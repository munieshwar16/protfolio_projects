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Quattrocento" panose="02020502030000000404" pitchFamily="18" charset="0"/>
      <p:regular r:id="rId12"/>
      <p:bold r:id="rId13"/>
    </p:embeddedFont>
    <p:embeddedFont>
      <p:font typeface="Quattrocento Bold" panose="02020802030000000404" pitchFamily="18" charset="0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96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6372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800225"/>
            <a:ext cx="7468553" cy="281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Medical Post-Surgery RAG System: An AI-Powered Medical Information Assistant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975265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Transforming medical information accessibility with cutting-edge AI technology.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4780717" y="7039213"/>
            <a:ext cx="2254210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3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 -Muni Eshwar </a:t>
            </a:r>
            <a:r>
              <a:rPr lang="en-US" sz="2350" b="1" dirty="0" err="1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Evakattu</a:t>
            </a:r>
            <a:endParaRPr lang="en-US" sz="2350" b="1" dirty="0">
              <a:solidFill>
                <a:srgbClr val="F9EEE7"/>
              </a:solidFill>
              <a:latin typeface="Quattrocento Bold" pitchFamily="34" charset="0"/>
              <a:ea typeface="Quattrocento Bold" pitchFamily="34" charset="-122"/>
              <a:cs typeface="Quattrocento Bold" pitchFamily="34" charset="-120"/>
            </a:endParaRPr>
          </a:p>
          <a:p>
            <a:pPr marL="0" indent="0" algn="l">
              <a:lnSpc>
                <a:spcPts val="3250"/>
              </a:lnSpc>
              <a:buNone/>
            </a:pPr>
            <a:endParaRPr lang="en-US" sz="2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25291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Problem: Bridging the Gap in Post-Surgical Care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4331613"/>
            <a:ext cx="389917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Lack of Accessible Information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922877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Limited resources for patients seeking clear guidance on post-surgery care.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614761" y="4331613"/>
            <a:ext cx="552092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Need for Immediate &amp; Reliable Information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14761" y="4922877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Patients require accurate and up-to-date medical information right when they need it.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5543" y="420767"/>
            <a:ext cx="3757255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00"/>
              </a:lnSpc>
              <a:buNone/>
            </a:pPr>
            <a:r>
              <a:rPr lang="en-US" sz="2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System Architecture: A 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5543" y="1100257"/>
            <a:ext cx="4251841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00"/>
              </a:lnSpc>
              <a:buNone/>
            </a:pPr>
            <a:r>
              <a:rPr lang="en-US" sz="2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Comprehensive Approach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660" y="1779746"/>
            <a:ext cx="2237184" cy="5310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91320" y="1948934"/>
            <a:ext cx="67747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196840" y="1932742"/>
            <a:ext cx="1213366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Interface Layer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82064" y="2320290"/>
            <a:ext cx="8974574" cy="11430"/>
          </a:xfrm>
          <a:prstGeom prst="roundRect">
            <a:avLst>
              <a:gd name="adj" fmla="val 200810"/>
            </a:avLst>
          </a:prstGeom>
          <a:solidFill>
            <a:srgbClr val="4A6B6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068" y="2348984"/>
            <a:ext cx="4474488" cy="5310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73937" y="2461498"/>
            <a:ext cx="10251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315551" y="2501979"/>
            <a:ext cx="1352431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Processing Layer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00775" y="2889528"/>
            <a:ext cx="7855863" cy="11430"/>
          </a:xfrm>
          <a:prstGeom prst="roundRect">
            <a:avLst>
              <a:gd name="adj" fmla="val 200810"/>
            </a:avLst>
          </a:prstGeom>
          <a:solidFill>
            <a:srgbClr val="4A6B6A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357" y="2918222"/>
            <a:ext cx="6711791" cy="5310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73222" y="3030736"/>
            <a:ext cx="104061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7434143" y="3071217"/>
            <a:ext cx="85153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 Layer</a:t>
            </a:r>
            <a:endParaRPr lang="en-US" sz="14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4526" y="3621286"/>
            <a:ext cx="6981349" cy="4188738"/>
          </a:xfrm>
          <a:prstGeom prst="rect">
            <a:avLst/>
          </a:prstGeom>
          <a:effectLst>
            <a:glow rad="50800">
              <a:schemeClr val="accent1">
                <a:alpha val="40000"/>
              </a:schemeClr>
            </a:glow>
            <a:reflection blurRad="12700" endPos="10000" dist="50800" dir="5400000" sy="-100000" algn="bl" rotWithShape="0"/>
            <a:softEdge rad="1016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58079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 Collection &amp; Processing: Robust Foundation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3617000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sp>
        <p:nvSpPr>
          <p:cNvPr id="5" name="Text 2"/>
          <p:cNvSpPr/>
          <p:nvPr/>
        </p:nvSpPr>
        <p:spPr>
          <a:xfrm>
            <a:off x="1047155" y="3717250"/>
            <a:ext cx="119658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615559" y="361700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Expert Sources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15559" y="4112538"/>
            <a:ext cx="283678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Johns Hopkins Medicine Website, ERA Society Guidelines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691658" y="3617000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sp>
        <p:nvSpPr>
          <p:cNvPr id="9" name="Text 6"/>
          <p:cNvSpPr/>
          <p:nvPr/>
        </p:nvSpPr>
        <p:spPr>
          <a:xfrm>
            <a:off x="4870252" y="3717250"/>
            <a:ext cx="18121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69493" y="361700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Processing Pipeline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69493" y="4112538"/>
            <a:ext cx="283678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Custom web scraper, PDF processing, chunking strategy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37724" y="5770126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sp>
        <p:nvSpPr>
          <p:cNvPr id="13" name="Text 10"/>
          <p:cNvSpPr/>
          <p:nvPr/>
        </p:nvSpPr>
        <p:spPr>
          <a:xfrm>
            <a:off x="1015008" y="5870377"/>
            <a:ext cx="18383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615559" y="5770126"/>
            <a:ext cx="316063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 Quality &amp; Validation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15559" y="6265664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Rigorous data cleaning and verification processes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622703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RAG Implementation Evolution: From Basic to Sophisticated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389709"/>
            <a:ext cx="3238738" cy="1357193"/>
          </a:xfrm>
          <a:prstGeom prst="roundRect">
            <a:avLst>
              <a:gd name="adj" fmla="val 2646"/>
            </a:avLst>
          </a:prstGeom>
          <a:solidFill>
            <a:srgbClr val="315251"/>
          </a:solidFill>
          <a:ln/>
        </p:spPr>
      </p:sp>
      <p:sp>
        <p:nvSpPr>
          <p:cNvPr id="4" name="Text 2"/>
          <p:cNvSpPr/>
          <p:nvPr/>
        </p:nvSpPr>
        <p:spPr>
          <a:xfrm>
            <a:off x="1077039" y="3828931"/>
            <a:ext cx="105966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2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4315778" y="362902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Initial Approach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15778" y="4124563"/>
            <a:ext cx="5756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Basic similarity search, limited context understanding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4196120" y="4731663"/>
            <a:ext cx="9476899" cy="15240"/>
          </a:xfrm>
          <a:prstGeom prst="roundRect">
            <a:avLst>
              <a:gd name="adj" fmla="val 235611"/>
            </a:avLst>
          </a:prstGeom>
          <a:solidFill>
            <a:srgbClr val="4A6B6A"/>
          </a:solidFill>
          <a:ln/>
        </p:spPr>
      </p:sp>
      <p:sp>
        <p:nvSpPr>
          <p:cNvPr id="8" name="Shape 6"/>
          <p:cNvSpPr/>
          <p:nvPr/>
        </p:nvSpPr>
        <p:spPr>
          <a:xfrm>
            <a:off x="837724" y="4866561"/>
            <a:ext cx="6477476" cy="1740218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</p:sp>
      <p:sp>
        <p:nvSpPr>
          <p:cNvPr id="9" name="Text 7"/>
          <p:cNvSpPr/>
          <p:nvPr/>
        </p:nvSpPr>
        <p:spPr>
          <a:xfrm>
            <a:off x="1077039" y="5497354"/>
            <a:ext cx="160377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2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2350" dirty="0"/>
          </a:p>
        </p:txBody>
      </p:sp>
      <p:sp>
        <p:nvSpPr>
          <p:cNvPr id="10" name="Text 8"/>
          <p:cNvSpPr/>
          <p:nvPr/>
        </p:nvSpPr>
        <p:spPr>
          <a:xfrm>
            <a:off x="7554516" y="510587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Enhanced System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54516" y="5601414"/>
            <a:ext cx="599884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Hybrid retrieval, medical query expansion, cross-encoder reranking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8057" y="509111"/>
            <a:ext cx="8785979" cy="544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250"/>
              </a:lnSpc>
              <a:buNone/>
            </a:pPr>
            <a:r>
              <a:rPr lang="en-US" sz="3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Model Comparison: Performance Evaluation 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85894" y="4158050"/>
            <a:ext cx="13334286" cy="22860"/>
          </a:xfrm>
          <a:prstGeom prst="roundRect">
            <a:avLst>
              <a:gd name="adj" fmla="val 121500"/>
            </a:avLst>
          </a:prstGeom>
          <a:solidFill>
            <a:srgbClr val="4A6B6A"/>
          </a:solidFill>
          <a:ln/>
        </p:spPr>
      </p:sp>
      <p:sp>
        <p:nvSpPr>
          <p:cNvPr id="4" name="Shape 2"/>
          <p:cNvSpPr/>
          <p:nvPr/>
        </p:nvSpPr>
        <p:spPr>
          <a:xfrm>
            <a:off x="3457894" y="4031754"/>
            <a:ext cx="323969" cy="323969"/>
          </a:xfrm>
          <a:prstGeom prst="roundRect">
            <a:avLst>
              <a:gd name="adj" fmla="val 8573"/>
            </a:avLst>
          </a:prstGeom>
          <a:solidFill>
            <a:srgbClr val="315251"/>
          </a:solidFill>
          <a:ln/>
        </p:spPr>
      </p:sp>
      <p:sp>
        <p:nvSpPr>
          <p:cNvPr id="5" name="Text 3"/>
          <p:cNvSpPr/>
          <p:nvPr/>
        </p:nvSpPr>
        <p:spPr>
          <a:xfrm>
            <a:off x="2628305" y="1738551"/>
            <a:ext cx="2614017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Quality Metrics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833199" y="1769150"/>
            <a:ext cx="620422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64283" y="2392740"/>
            <a:ext cx="3728043" cy="1481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ROUGE-1 Scores (Text Overlap):
Solar: 0.255 (highest)
Llama: 0.229
Phi2: 0.182
Mistral: 0.147 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935313" y="2392740"/>
            <a:ext cx="3960740" cy="1481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Semantic Similarity (Relevance):
Solar: 0.660 (highest)
Llama: 0.650
Phi2: 0.551
Mistral: 0.538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713338" y="4007495"/>
            <a:ext cx="323969" cy="323969"/>
          </a:xfrm>
          <a:prstGeom prst="roundRect">
            <a:avLst>
              <a:gd name="adj" fmla="val 8573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4010155" y="4465082"/>
            <a:ext cx="2614017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Inference Time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2325304" y="4869040"/>
            <a:ext cx="6204228" cy="1481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Processing Speed:</a:t>
            </a:r>
          </a:p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
Mistral: 8.761s       Solar: 9.752s
Llama: 12.305s       Phi2: 17.425s 
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737877" y="4018925"/>
            <a:ext cx="323969" cy="323969"/>
          </a:xfrm>
          <a:prstGeom prst="roundRect">
            <a:avLst>
              <a:gd name="adj" fmla="val 8573"/>
            </a:avLst>
          </a:prstGeom>
          <a:solidFill>
            <a:srgbClr val="315251"/>
          </a:solidFill>
          <a:ln/>
        </p:spPr>
      </p:sp>
      <p:sp>
        <p:nvSpPr>
          <p:cNvPr id="13" name="Text 11"/>
          <p:cNvSpPr/>
          <p:nvPr/>
        </p:nvSpPr>
        <p:spPr>
          <a:xfrm>
            <a:off x="648057" y="4465081"/>
            <a:ext cx="2614017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Takeaways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423971" y="5076079"/>
            <a:ext cx="4617075" cy="1184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- Solar performs best on quality metrics
- Mistral has significant speed advantages
- Llama provides balanced performance
- Trade-off between speed and quality </a:t>
            </a:r>
          </a:p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across models</a:t>
            </a:r>
            <a:endParaRPr lang="en-US" sz="1450" dirty="0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2208E0AC-CB78-E108-F467-0A2114361F94}"/>
              </a:ext>
            </a:extLst>
          </p:cNvPr>
          <p:cNvSpPr/>
          <p:nvPr/>
        </p:nvSpPr>
        <p:spPr>
          <a:xfrm rot="5400000">
            <a:off x="4261314" y="4158051"/>
            <a:ext cx="5228018" cy="45719"/>
          </a:xfrm>
          <a:prstGeom prst="roundRect">
            <a:avLst>
              <a:gd name="adj" fmla="val 121500"/>
            </a:avLst>
          </a:prstGeom>
          <a:solidFill>
            <a:srgbClr val="4A6B6A"/>
          </a:solidFill>
          <a:ln/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266E8E4-4360-9038-0A55-00E160B05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975" y="1357093"/>
            <a:ext cx="5658860" cy="56732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298" y="528995"/>
            <a:ext cx="4622244" cy="452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Performance Improvements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73298" y="1462445"/>
            <a:ext cx="4235529" cy="634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35%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1659374" y="2337554"/>
            <a:ext cx="226337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Retrieval Increase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73298" y="2735818"/>
            <a:ext cx="4235529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Improved document retrieval accuracy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97316" y="1462445"/>
            <a:ext cx="4235648" cy="634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90%</a:t>
            </a:r>
            <a:endParaRPr lang="en-US" sz="4950" dirty="0"/>
          </a:p>
        </p:txBody>
      </p:sp>
      <p:sp>
        <p:nvSpPr>
          <p:cNvPr id="7" name="Text 5"/>
          <p:cNvSpPr/>
          <p:nvPr/>
        </p:nvSpPr>
        <p:spPr>
          <a:xfrm>
            <a:off x="6183392" y="2337554"/>
            <a:ext cx="226337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Accuracy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197316" y="2735818"/>
            <a:ext cx="4235648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Enhanced respnse accuracy and precision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21453" y="1462445"/>
            <a:ext cx="4235529" cy="634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10ms</a:t>
            </a:r>
            <a:endParaRPr lang="en-US" sz="4950" dirty="0"/>
          </a:p>
        </p:txBody>
      </p:sp>
      <p:sp>
        <p:nvSpPr>
          <p:cNvPr id="10" name="Text 8"/>
          <p:cNvSpPr/>
          <p:nvPr/>
        </p:nvSpPr>
        <p:spPr>
          <a:xfrm>
            <a:off x="10707529" y="2337554"/>
            <a:ext cx="226337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Inference Time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721453" y="2735818"/>
            <a:ext cx="4235529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Fast and efficient response generation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3298" y="3332083"/>
            <a:ext cx="3621405" cy="452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Model Strengths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673298" y="4073247"/>
            <a:ext cx="13283803" cy="2293620"/>
          </a:xfrm>
          <a:prstGeom prst="roundRect">
            <a:avLst>
              <a:gd name="adj" fmla="val 125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918" y="4080867"/>
            <a:ext cx="13268563" cy="58543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638068" y="4203859"/>
            <a:ext cx="2716054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Solar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276159" y="4203859"/>
            <a:ext cx="2716054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Llama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80918" y="4666297"/>
            <a:ext cx="13268563" cy="5537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73204" y="4789289"/>
            <a:ext cx="624590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Best for accuracy-critical applications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11296" y="4789289"/>
            <a:ext cx="624590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Good for balanced requirements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0918" y="5220057"/>
            <a:ext cx="13268563" cy="58543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638068" y="5343049"/>
            <a:ext cx="2716054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Mistral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276159" y="5343049"/>
            <a:ext cx="2716054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PHI 2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680918" y="5805488"/>
            <a:ext cx="13268563" cy="5537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73204" y="5928479"/>
            <a:ext cx="624590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Ideal for time-sensitive queries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11296" y="5928479"/>
            <a:ext cx="624590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Consistent but slower 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0" y="0"/>
            <a:ext cx="7315200" cy="8229600"/>
          </a:xfrm>
          <a:prstGeom prst="rect">
            <a:avLst/>
          </a:prstGeom>
          <a:solidFill>
            <a:schemeClr val="accent6">
              <a:lumMod val="60000"/>
              <a:lumOff val="40000"/>
              <a:alpha val="0"/>
            </a:schemeClr>
          </a:solidFill>
        </p:spPr>
      </p:pic>
      <p:sp>
        <p:nvSpPr>
          <p:cNvPr id="4" name="Text 0"/>
          <p:cNvSpPr/>
          <p:nvPr/>
        </p:nvSpPr>
        <p:spPr>
          <a:xfrm>
            <a:off x="712946" y="560903"/>
            <a:ext cx="7718108" cy="119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700"/>
              </a:lnSpc>
              <a:buNone/>
            </a:pPr>
            <a:r>
              <a:rPr lang="en-US" sz="3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Interface Design: User-Centric Experience</a:t>
            </a:r>
            <a:endParaRPr lang="en-US" sz="375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946" y="2064663"/>
            <a:ext cx="509230" cy="50923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12946" y="2777609"/>
            <a:ext cx="2396728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Intuitive Search</a:t>
            </a: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712946" y="3199328"/>
            <a:ext cx="7718108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Easy-to-use query input for patients and clinicians</a:t>
            </a:r>
            <a:endParaRPr lang="en-US" sz="16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946" y="4136350"/>
            <a:ext cx="509230" cy="50923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12946" y="4849297"/>
            <a:ext cx="2396728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Parameter Controls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712946" y="5271016"/>
            <a:ext cx="7718108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Customize search options for specific needs</a:t>
            </a:r>
            <a:endParaRPr lang="en-US" sz="16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946" y="6208038"/>
            <a:ext cx="509230" cy="50923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12946" y="6920984"/>
            <a:ext cx="2396728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Visual Response</a:t>
            </a:r>
            <a:endParaRPr lang="en-US" sz="1850" dirty="0"/>
          </a:p>
        </p:txBody>
      </p:sp>
      <p:sp>
        <p:nvSpPr>
          <p:cNvPr id="13" name="Text 6"/>
          <p:cNvSpPr/>
          <p:nvPr/>
        </p:nvSpPr>
        <p:spPr>
          <a:xfrm>
            <a:off x="712946" y="7342703"/>
            <a:ext cx="7718108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Clear and concise display of relevant medical information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25335"/>
            <a:ext cx="680144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Conclusion &amp; Future Work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908102"/>
            <a:ext cx="12954952" cy="3596045"/>
          </a:xfrm>
          <a:prstGeom prst="roundRect">
            <a:avLst>
              <a:gd name="adj" fmla="val 99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344" y="2915722"/>
            <a:ext cx="12939713" cy="685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84659" y="3066931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Conclusion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558326" y="3066931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Future Scope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845344" y="3601164"/>
            <a:ext cx="12939713" cy="289536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84659" y="3752374"/>
            <a:ext cx="5987415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🎯</a:t>
            </a: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</a:t>
            </a: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Achievements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084659" y="4286607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Successfully implemented hybrid retrieval system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084659" y="4741426"/>
            <a:ext cx="598741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Demonstrated Solar's superiority for accurate responses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084659" y="5579269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Developed efficient medical query processing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084659" y="6034088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Created accessible medical information interface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558326" y="3752374"/>
            <a:ext cx="5987415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🔮</a:t>
            </a: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</a:t>
            </a: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Planned Enhancements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558326" y="4286607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Advanced query expansion for medical terminology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558326" y="4741426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Real-time response validation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7558326" y="5196245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Multi-language support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7558326" y="5651063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Enhanced source attribution</a:t>
            </a:r>
            <a:endParaRPr lang="en-US" sz="18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3A2C8A-3FC5-C6CD-D87C-1DFA38B885A0}"/>
              </a:ext>
            </a:extLst>
          </p:cNvPr>
          <p:cNvSpPr txBox="1"/>
          <p:nvPr/>
        </p:nvSpPr>
        <p:spPr>
          <a:xfrm>
            <a:off x="5864156" y="6935778"/>
            <a:ext cx="307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D9BE"/>
                </a:solidFill>
                <a:latin typeface="Quattrocento" panose="02020502030000000404" pitchFamily="18" charset="0"/>
              </a:rPr>
              <a:t>Thank</a:t>
            </a:r>
            <a:r>
              <a:rPr lang="en-IN" dirty="0">
                <a:solidFill>
                  <a:srgbClr val="FFD9BE"/>
                </a:solidFill>
              </a:rPr>
              <a:t> </a:t>
            </a:r>
            <a:r>
              <a:rPr lang="en-IN" sz="2800" dirty="0">
                <a:solidFill>
                  <a:srgbClr val="FFD9BE"/>
                </a:solidFill>
                <a:latin typeface="Quattrocento" panose="02020502030000000404" pitchFamily="18" charset="0"/>
              </a:rPr>
              <a:t>You…</a:t>
            </a:r>
            <a:endParaRPr lang="en-IN" dirty="0">
              <a:solidFill>
                <a:srgbClr val="FFD9B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400</Words>
  <Application>Microsoft Office PowerPoint</Application>
  <PresentationFormat>Custom</PresentationFormat>
  <Paragraphs>92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Quattrocento</vt:lpstr>
      <vt:lpstr>Arial</vt:lpstr>
      <vt:lpstr>Quattrocento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muni eshwar</cp:lastModifiedBy>
  <cp:revision>3</cp:revision>
  <dcterms:created xsi:type="dcterms:W3CDTF">2024-12-08T19:15:38Z</dcterms:created>
  <dcterms:modified xsi:type="dcterms:W3CDTF">2024-12-08T19:41:41Z</dcterms:modified>
</cp:coreProperties>
</file>