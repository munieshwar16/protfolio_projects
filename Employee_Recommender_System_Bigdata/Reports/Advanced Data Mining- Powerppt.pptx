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1pPr>
    <a:lvl2pPr marL="0" marR="0" indent="4572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2pPr>
    <a:lvl3pPr marL="0" marR="0" indent="9144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3pPr>
    <a:lvl4pPr marL="0" marR="0" indent="13716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4pPr>
    <a:lvl5pPr marL="0" marR="0" indent="18288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5pPr>
    <a:lvl6pPr marL="0" marR="0" indent="22860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6pPr>
    <a:lvl7pPr marL="0" marR="0" indent="27432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7pPr>
    <a:lvl8pPr marL="0" marR="0" indent="32004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8pPr>
    <a:lvl9pPr marL="0" marR="0" indent="365760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wholeTbl>
    <a:band2H>
      <a:tcTxStyle/>
      <a:tcStyle>
        <a:tcBdr/>
        <a:fill>
          <a:solidFill>
            <a:srgbClr val="929292"/>
          </a:solidFill>
        </a:fill>
      </a:tcStyle>
    </a:band2H>
    <a:firstCol>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firstCol>
    <a:la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lastRow>
    <a:fir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firstRow>
  </a:tblStyle>
  <a:tblStyle styleId="{C7B018BB-80A7-4F77-B60F-C8B233D01FF8}" styleName="">
    <a:tblBg/>
    <a:wholeTbl>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wholeTbl>
    <a:band2H>
      <a:tcTxStyle/>
      <a:tcStyle>
        <a:tcBdr/>
        <a:fill>
          <a:solidFill>
            <a:srgbClr val="929292"/>
          </a:solidFill>
        </a:fill>
      </a:tcStyle>
    </a:band2H>
    <a:firstCol>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firstCol>
    <a:lastRow>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lastRow>
    <a:fir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chemeClr val="accent1">
              <a:satOff val="-1029"/>
              <a:lumOff val="-15629"/>
            </a:schemeClr>
          </a:solidFill>
        </a:fill>
      </a:tcStyle>
    </a:firstRow>
  </a:tblStyle>
  <a:tblStyle styleId="{EEE7283C-3CF3-47DC-8721-378D4A62B228}" styleName="">
    <a:tblBg/>
    <a:wholeTbl>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wholeTbl>
    <a:band2H>
      <a:tcTxStyle/>
      <a:tcStyle>
        <a:tcBdr/>
        <a:fill>
          <a:solidFill>
            <a:srgbClr val="929292"/>
          </a:solidFill>
        </a:fill>
      </a:tcStyle>
    </a:band2H>
    <a:firstCol>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chemeClr val="accent2">
              <a:hueOff val="-168224"/>
              <a:satOff val="18883"/>
              <a:lumOff val="-31844"/>
            </a:schemeClr>
          </a:solidFill>
        </a:fill>
      </a:tcStyle>
    </a:firstCol>
    <a:lastRow>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lastRow>
    <a:fir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00DBB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chemeClr val="accent4">
              <a:hueOff val="97492"/>
              <a:satOff val="-3125"/>
              <a:lumOff val="27021"/>
            </a:schemeClr>
          </a:solidFill>
        </a:fill>
      </a:tcStyle>
    </a:wholeTbl>
    <a:band2H>
      <a:tcTxStyle/>
      <a:tcStyle>
        <a:tcBdr/>
        <a:fill>
          <a:solidFill>
            <a:srgbClr val="FFFB00"/>
          </a:solidFill>
        </a:fill>
      </a:tcStyle>
    </a:band2H>
    <a:firstCol>
      <a:tcTxStyle b="on" i="off">
        <a:font>
          <a:latin typeface="Graphik Semibold"/>
          <a:ea typeface="Graphik Semibold"/>
          <a:cs typeface="Graphik Semibold"/>
        </a:font>
        <a:srgbClr val="000000"/>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chemeClr val="accent4">
              <a:hueOff val="-410732"/>
            </a:schemeClr>
          </a:solidFill>
        </a:fill>
      </a:tcStyle>
    </a:firstCol>
    <a:lastRow>
      <a:tcTxStyle b="on" i="off">
        <a:font>
          <a:latin typeface="Graphik Semibold"/>
          <a:ea typeface="Graphik Semibold"/>
          <a:cs typeface="Graphik Semibold"/>
        </a:font>
        <a:srgbClr val="000000"/>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chemeClr val="accent4">
              <a:hueOff val="97492"/>
              <a:satOff val="-3125"/>
              <a:lumOff val="27021"/>
            </a:schemeClr>
          </a:solidFill>
        </a:fill>
      </a:tcStyle>
    </a:lastRow>
    <a:firstRow>
      <a:tcTxStyle b="on" i="off">
        <a:font>
          <a:latin typeface="Graphik Semibold"/>
          <a:ea typeface="Graphik Semibold"/>
          <a:cs typeface="Graphik Semibold"/>
        </a:font>
        <a:srgbClr val="000000"/>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chemeClr val="accent4">
              <a:hueOff val="-737021"/>
            </a:schemeClr>
          </a:solidFill>
        </a:fill>
      </a:tcStyle>
    </a:firstRow>
  </a:tblStyle>
  <a:tblStyle styleId="{33BA23B1-9221-436E-865A-0063620EA4FD}" styleName="">
    <a:tblBg/>
    <a:wholeTbl>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wholeTbl>
    <a:band2H>
      <a:tcTxStyle/>
      <a:tcStyle>
        <a:tcBdr/>
        <a:fill>
          <a:solidFill>
            <a:srgbClr val="DF9DFE"/>
          </a:solidFill>
        </a:fill>
      </a:tcStyle>
    </a:band2H>
    <a:firstCol>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chemeClr val="accent6">
              <a:hueOff val="114748"/>
              <a:satOff val="1446"/>
              <a:lumOff val="-8963"/>
            </a:schemeClr>
          </a:solidFill>
        </a:fill>
      </a:tcStyle>
    </a:firstCol>
    <a:la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lastRow>
    <a:fir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chemeClr val="accent6">
              <a:satOff val="-21357"/>
              <a:lumOff val="-20662"/>
            </a:schemeClr>
          </a:solidFill>
        </a:fill>
      </a:tcStyle>
    </a:firstRow>
  </a:tblStyle>
  <a:tblStyle styleId="{2708684C-4D16-4618-839F-0558EEFCDFE6}" styleName="">
    <a:tblBg/>
    <a:wholeTbl>
      <a:tcTxStyle b="off" i="off">
        <a:font>
          <a:latin typeface="Graphik"/>
          <a:ea typeface="Graphik"/>
          <a:cs typeface="Graphik"/>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wholeTbl>
    <a:band2H>
      <a:tcTxStyle/>
      <a:tcStyle>
        <a:tcBdr/>
        <a:fill>
          <a:solidFill>
            <a:srgbClr val="929292"/>
          </a:solidFill>
        </a:fill>
      </a:tcStyle>
    </a:band2H>
    <a:firstCol>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firstCol>
    <a:la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15161B"/>
          </a:solidFill>
        </a:fill>
      </a:tcStyle>
    </a:lastRow>
    <a:firstRow>
      <a:tcTxStyle b="on" i="off">
        <a:font>
          <a:latin typeface="Graphik Semibold"/>
          <a:ea typeface="Graphik Semibold"/>
          <a:cs typeface="Graphik Semibold"/>
        </a:font>
        <a:srgbClr val="FFFFFF"/>
      </a:tcTxStyle>
      <a:tcStyle>
        <a:tcBdr>
          <a:left>
            <a:ln w="12700" cap="flat">
              <a:solidFill>
                <a:srgbClr val="D5D5D5"/>
              </a:solidFill>
              <a:prstDash val="solid"/>
              <a:miter lim="400000"/>
            </a:ln>
          </a:left>
          <a:right>
            <a:ln w="12700" cap="flat">
              <a:solidFill>
                <a:srgbClr val="D5D5D5"/>
              </a:solidFill>
              <a:prstDash val="solid"/>
              <a:miter lim="400000"/>
            </a:ln>
          </a:right>
          <a:top>
            <a:ln w="12700" cap="flat">
              <a:solidFill>
                <a:srgbClr val="D5D5D5"/>
              </a:solidFill>
              <a:prstDash val="solid"/>
              <a:miter lim="400000"/>
            </a:ln>
          </a:top>
          <a:bottom>
            <a:ln w="12700" cap="flat">
              <a:solidFill>
                <a:srgbClr val="D5D5D5"/>
              </a:solidFill>
              <a:prstDash val="solid"/>
              <a:miter lim="400000"/>
            </a:ln>
          </a:bottom>
          <a:insideH>
            <a:ln w="12700" cap="flat">
              <a:solidFill>
                <a:srgbClr val="D5D5D5"/>
              </a:solidFill>
              <a:prstDash val="solid"/>
              <a:miter lim="400000"/>
            </a:ln>
          </a:insideH>
          <a:insideV>
            <a:ln w="12700" cap="flat">
              <a:solidFill>
                <a:srgbClr val="D5D5D5"/>
              </a:solidFill>
              <a:prstDash val="solid"/>
              <a:miter lim="400000"/>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1330"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11099000000000001"/>
          <c:y val="5.4099000000000001E-2"/>
          <c:w val="0.88400999999999996"/>
          <c:h val="0.79301100000000002"/>
        </c:manualLayout>
      </c:layout>
      <c:barChart>
        <c:barDir val="col"/>
        <c:grouping val="clustered"/>
        <c:varyColors val="0"/>
        <c:ser>
          <c:idx val="0"/>
          <c:order val="0"/>
          <c:tx>
            <c:strRef>
              <c:f>Sheet1!$B$1</c:f>
              <c:strCache>
                <c:ptCount val="1"/>
                <c:pt idx="0">
                  <c:v>CMB0912</c:v>
                </c:pt>
              </c:strCache>
            </c:strRef>
          </c:tx>
          <c:spPr>
            <a:solidFill>
              <a:srgbClr val="3B7E26"/>
            </a:solidFill>
            <a:ln w="12700" cap="flat">
              <a:noFill/>
              <a:miter lim="400000"/>
            </a:ln>
            <a:effectLst/>
          </c:spPr>
          <c:invertIfNegative val="0"/>
          <c:cat>
            <c:strRef>
              <c:f>Sheet1!$A$2:$A$12</c:f>
              <c:strCache>
                <c:ptCount val="11"/>
                <c:pt idx="7">
                  <c:v>FKB0163</c:v>
                </c:pt>
                <c:pt idx="8">
                  <c:v>JCR0770</c:v>
                </c:pt>
                <c:pt idx="9">
                  <c:v>MNR0829</c:v>
                </c:pt>
                <c:pt idx="10">
                  <c:v>BNG0237</c:v>
                </c:pt>
              </c:strCache>
            </c:strRef>
          </c:cat>
          <c:val>
            <c:numRef>
              <c:f>Sheet1!$B$2:$B$12</c:f>
              <c:numCache>
                <c:formatCode>General</c:formatCode>
                <c:ptCount val="11"/>
                <c:pt idx="1">
                  <c:v>12.64</c:v>
                </c:pt>
                <c:pt idx="7">
                  <c:v>9.08</c:v>
                </c:pt>
                <c:pt idx="8">
                  <c:v>8.1199999999999992</c:v>
                </c:pt>
                <c:pt idx="9">
                  <c:v>11.08</c:v>
                </c:pt>
                <c:pt idx="10">
                  <c:v>14.26</c:v>
                </c:pt>
              </c:numCache>
            </c:numRef>
          </c:val>
          <c:extLst>
            <c:ext xmlns:c16="http://schemas.microsoft.com/office/drawing/2014/chart" uri="{C3380CC4-5D6E-409C-BE32-E72D297353CC}">
              <c16:uniqueId val="{00000000-1BA6-4B01-933E-690C969CE48F}"/>
            </c:ext>
          </c:extLst>
        </c:ser>
        <c:ser>
          <c:idx val="1"/>
          <c:order val="1"/>
          <c:tx>
            <c:strRef>
              <c:f>Sheet1!$C$1</c:f>
              <c:strCache>
                <c:ptCount val="1"/>
                <c:pt idx="0">
                  <c:v>RHO0732</c:v>
                </c:pt>
              </c:strCache>
            </c:strRef>
          </c:tx>
          <c:spPr>
            <a:solidFill>
              <a:srgbClr val="007A64"/>
            </a:solidFill>
            <a:ln w="12700" cap="flat">
              <a:noFill/>
              <a:miter lim="400000"/>
            </a:ln>
            <a:effectLst/>
          </c:spPr>
          <c:invertIfNegative val="0"/>
          <c:cat>
            <c:strRef>
              <c:f>Sheet1!$A$2:$A$12</c:f>
              <c:strCache>
                <c:ptCount val="11"/>
                <c:pt idx="7">
                  <c:v>FKB0163</c:v>
                </c:pt>
                <c:pt idx="8">
                  <c:v>JCR0770</c:v>
                </c:pt>
                <c:pt idx="9">
                  <c:v>MNR0829</c:v>
                </c:pt>
                <c:pt idx="10">
                  <c:v>BNG0237</c:v>
                </c:pt>
              </c:strCache>
            </c:strRef>
          </c:cat>
          <c:val>
            <c:numRef>
              <c:f>Sheet1!$C$2:$C$12</c:f>
              <c:numCache>
                <c:formatCode>General</c:formatCode>
                <c:ptCount val="2"/>
                <c:pt idx="1">
                  <c:v>11.69</c:v>
                </c:pt>
              </c:numCache>
            </c:numRef>
          </c:val>
          <c:extLst>
            <c:ext xmlns:c16="http://schemas.microsoft.com/office/drawing/2014/chart" uri="{C3380CC4-5D6E-409C-BE32-E72D297353CC}">
              <c16:uniqueId val="{00000001-1BA6-4B01-933E-690C969CE48F}"/>
            </c:ext>
          </c:extLst>
        </c:ser>
        <c:ser>
          <c:idx val="2"/>
          <c:order val="2"/>
          <c:tx>
            <c:strRef>
              <c:f>Sheet1!$D$1</c:f>
              <c:strCache>
                <c:ptCount val="1"/>
                <c:pt idx="0">
                  <c:v>SAB0781</c:v>
                </c:pt>
              </c:strCache>
            </c:strRef>
          </c:tx>
          <c:spPr>
            <a:solidFill>
              <a:srgbClr val="015243"/>
            </a:solidFill>
            <a:ln w="12700" cap="flat">
              <a:noFill/>
              <a:miter lim="400000"/>
            </a:ln>
            <a:effectLst/>
          </c:spPr>
          <c:invertIfNegative val="0"/>
          <c:cat>
            <c:strRef>
              <c:f>Sheet1!$A$2:$A$12</c:f>
              <c:strCache>
                <c:ptCount val="11"/>
                <c:pt idx="7">
                  <c:v>FKB0163</c:v>
                </c:pt>
                <c:pt idx="8">
                  <c:v>JCR0770</c:v>
                </c:pt>
                <c:pt idx="9">
                  <c:v>MNR0829</c:v>
                </c:pt>
                <c:pt idx="10">
                  <c:v>BNG0237</c:v>
                </c:pt>
              </c:strCache>
            </c:strRef>
          </c:cat>
          <c:val>
            <c:numRef>
              <c:f>Sheet1!$D$2:$D$12</c:f>
              <c:numCache>
                <c:formatCode>General</c:formatCode>
                <c:ptCount val="2"/>
                <c:pt idx="1">
                  <c:v>10.79</c:v>
                </c:pt>
              </c:numCache>
            </c:numRef>
          </c:val>
          <c:extLst>
            <c:ext xmlns:c16="http://schemas.microsoft.com/office/drawing/2014/chart" uri="{C3380CC4-5D6E-409C-BE32-E72D297353CC}">
              <c16:uniqueId val="{00000002-1BA6-4B01-933E-690C969CE48F}"/>
            </c:ext>
          </c:extLst>
        </c:ser>
        <c:ser>
          <c:idx val="3"/>
          <c:order val="3"/>
          <c:tx>
            <c:strRef>
              <c:f>Sheet1!$E$1</c:f>
              <c:strCache>
                <c:ptCount val="1"/>
                <c:pt idx="0">
                  <c:v>JDB0169</c:v>
                </c:pt>
              </c:strCache>
            </c:strRef>
          </c:tx>
          <c:spPr>
            <a:solidFill>
              <a:srgbClr val="00957B"/>
            </a:solidFill>
            <a:ln w="12700" cap="flat">
              <a:noFill/>
              <a:miter lim="400000"/>
            </a:ln>
            <a:effectLst/>
          </c:spPr>
          <c:invertIfNegative val="0"/>
          <c:cat>
            <c:strRef>
              <c:f>Sheet1!$A$2:$A$12</c:f>
              <c:strCache>
                <c:ptCount val="11"/>
                <c:pt idx="7">
                  <c:v>FKB0163</c:v>
                </c:pt>
                <c:pt idx="8">
                  <c:v>JCR0770</c:v>
                </c:pt>
                <c:pt idx="9">
                  <c:v>MNR0829</c:v>
                </c:pt>
                <c:pt idx="10">
                  <c:v>BNG0237</c:v>
                </c:pt>
              </c:strCache>
            </c:strRef>
          </c:cat>
          <c:val>
            <c:numRef>
              <c:f>Sheet1!$E$2:$E$12</c:f>
              <c:numCache>
                <c:formatCode>General</c:formatCode>
                <c:ptCount val="2"/>
                <c:pt idx="1">
                  <c:v>10.55</c:v>
                </c:pt>
              </c:numCache>
            </c:numRef>
          </c:val>
          <c:extLst>
            <c:ext xmlns:c16="http://schemas.microsoft.com/office/drawing/2014/chart" uri="{C3380CC4-5D6E-409C-BE32-E72D297353CC}">
              <c16:uniqueId val="{00000003-1BA6-4B01-933E-690C969CE48F}"/>
            </c:ext>
          </c:extLst>
        </c:ser>
        <c:dLbls>
          <c:showLegendKey val="0"/>
          <c:showVal val="0"/>
          <c:showCatName val="0"/>
          <c:showSerName val="0"/>
          <c:showPercent val="0"/>
          <c:showBubbleSize val="0"/>
        </c:dLbls>
        <c:gapWidth val="40"/>
        <c:overlap val="-1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FFFFFF"/>
            </a:solidFill>
            <a:prstDash val="solid"/>
            <a:miter lim="400000"/>
          </a:ln>
        </c:spPr>
        <c:txPr>
          <a:bodyPr rot="0"/>
          <a:lstStyle/>
          <a:p>
            <a:pPr>
              <a:defRPr sz="3400" b="0" i="0" u="none" strike="noStrike">
                <a:solidFill>
                  <a:srgbClr val="FFFFFF"/>
                </a:solidFill>
                <a:latin typeface="Graphik"/>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9525" cap="flat">
              <a:solidFill>
                <a:srgbClr val="B8B8B8"/>
              </a:solidFill>
              <a:prstDash val="solid"/>
              <a:miter lim="400000"/>
            </a:ln>
          </c:spPr>
        </c:majorGridlines>
        <c:numFmt formatCode="General" sourceLinked="0"/>
        <c:majorTickMark val="none"/>
        <c:minorTickMark val="none"/>
        <c:tickLblPos val="nextTo"/>
        <c:spPr>
          <a:ln w="12700" cap="flat">
            <a:noFill/>
            <a:prstDash val="solid"/>
            <a:miter lim="400000"/>
          </a:ln>
        </c:spPr>
        <c:txPr>
          <a:bodyPr rot="0"/>
          <a:lstStyle/>
          <a:p>
            <a:pPr>
              <a:defRPr sz="3400" b="0" i="0" u="none" strike="noStrike">
                <a:solidFill>
                  <a:srgbClr val="FFFFFF"/>
                </a:solidFill>
                <a:latin typeface="Graphik"/>
              </a:defRPr>
            </a:pPr>
            <a:endParaRPr lang="en-US"/>
          </a:p>
        </c:txPr>
        <c:crossAx val="2094734552"/>
        <c:crosses val="autoZero"/>
        <c:crossBetween val="between"/>
        <c:majorUnit val="3.75"/>
        <c:minorUnit val="1.87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view3D>
      <c:rotX val="22"/>
      <c:hPercent val="71"/>
      <c:rotY val="321"/>
      <c:depthPercent val="31"/>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0000000000000001E-3"/>
          <c:y val="5.0000000000000001E-3"/>
          <c:w val="0.99"/>
          <c:h val="0.98750000000000004"/>
        </c:manualLayout>
      </c:layout>
      <c:bar3DChart>
        <c:barDir val="col"/>
        <c:grouping val="clustered"/>
        <c:varyColors val="0"/>
        <c:ser>
          <c:idx val="0"/>
          <c:order val="0"/>
          <c:tx>
            <c:strRef>
              <c:f>Sheet1!$A$2</c:f>
              <c:strCache>
                <c:ptCount val="1"/>
                <c:pt idx="0">
                  <c:v>User1</c:v>
                </c:pt>
              </c:strCache>
            </c:strRef>
          </c:tx>
          <c:spPr>
            <a:solidFill>
              <a:schemeClr val="accent6">
                <a:satOff val="-21357"/>
                <a:lumOff val="-20662"/>
              </a:schemeClr>
            </a:solidFill>
            <a:ln w="12700" cap="flat">
              <a:noFill/>
              <a:miter lim="400000"/>
            </a:ln>
            <a:effectLst>
              <a:outerShdw blurRad="127000" dir="7800000" algn="tl">
                <a:srgbClr val="000000">
                  <a:alpha val="50000"/>
                </a:srgbClr>
              </a:outerShdw>
            </a:effectLst>
            <a:sp3d prstMaterial="matte"/>
          </c:spPr>
          <c:invertIfNegative val="0"/>
          <c:cat>
            <c:strRef>
              <c:f>Sheet1!$B$1:$E$1</c:f>
              <c:strCache>
                <c:ptCount val="4"/>
                <c:pt idx="0">
                  <c:v>Spam</c:v>
                </c:pt>
                <c:pt idx="1">
                  <c:v>Ham</c:v>
                </c:pt>
              </c:strCache>
            </c:strRef>
          </c:cat>
          <c:val>
            <c:numRef>
              <c:f>Sheet1!$B$2:$E$2</c:f>
              <c:numCache>
                <c:formatCode>General</c:formatCode>
                <c:ptCount val="2"/>
                <c:pt idx="0">
                  <c:v>17</c:v>
                </c:pt>
                <c:pt idx="1">
                  <c:v>26</c:v>
                </c:pt>
              </c:numCache>
            </c:numRef>
          </c:val>
          <c:extLst>
            <c:ext xmlns:c16="http://schemas.microsoft.com/office/drawing/2014/chart" uri="{C3380CC4-5D6E-409C-BE32-E72D297353CC}">
              <c16:uniqueId val="{00000000-00D8-4665-8A2C-08A08B81648D}"/>
            </c:ext>
          </c:extLst>
        </c:ser>
        <c:ser>
          <c:idx val="1"/>
          <c:order val="1"/>
          <c:tx>
            <c:strRef>
              <c:f>Sheet1!$A$3</c:f>
              <c:strCache>
                <c:ptCount val="1"/>
                <c:pt idx="0">
                  <c:v>User2</c:v>
                </c:pt>
              </c:strCache>
            </c:strRef>
          </c:tx>
          <c:spPr>
            <a:solidFill>
              <a:srgbClr val="0C600B"/>
            </a:solidFill>
            <a:ln w="12700" cap="flat">
              <a:noFill/>
              <a:miter lim="400000"/>
            </a:ln>
            <a:effectLst>
              <a:outerShdw blurRad="127000" dir="7800000" algn="tl">
                <a:srgbClr val="000000">
                  <a:alpha val="50000"/>
                </a:srgbClr>
              </a:outerShdw>
            </a:effectLst>
            <a:sp3d prstMaterial="matte"/>
          </c:spPr>
          <c:invertIfNegative val="0"/>
          <c:cat>
            <c:strRef>
              <c:f>Sheet1!$B$1:$E$1</c:f>
              <c:strCache>
                <c:ptCount val="4"/>
                <c:pt idx="0">
                  <c:v>Spam</c:v>
                </c:pt>
                <c:pt idx="1">
                  <c:v>Ham</c:v>
                </c:pt>
              </c:strCache>
            </c:strRef>
          </c:cat>
          <c:val>
            <c:numRef>
              <c:f>Sheet1!$B$3:$E$3</c:f>
              <c:numCache>
                <c:formatCode>General</c:formatCode>
                <c:ptCount val="2"/>
                <c:pt idx="0">
                  <c:v>55</c:v>
                </c:pt>
                <c:pt idx="1">
                  <c:v>43</c:v>
                </c:pt>
              </c:numCache>
            </c:numRef>
          </c:val>
          <c:extLst>
            <c:ext xmlns:c16="http://schemas.microsoft.com/office/drawing/2014/chart" uri="{C3380CC4-5D6E-409C-BE32-E72D297353CC}">
              <c16:uniqueId val="{00000001-00D8-4665-8A2C-08A08B81648D}"/>
            </c:ext>
          </c:extLst>
        </c:ser>
        <c:dLbls>
          <c:showLegendKey val="0"/>
          <c:showVal val="0"/>
          <c:showCatName val="0"/>
          <c:showSerName val="0"/>
          <c:showPercent val="0"/>
          <c:showBubbleSize val="0"/>
        </c:dLbls>
        <c:gapWidth val="40"/>
        <c:shape val="box"/>
        <c:axId val="2094734552"/>
        <c:axId val="2094734553"/>
        <c:axId val="2094734554"/>
      </c:bar3DChart>
      <c:catAx>
        <c:axId val="2094734552"/>
        <c:scaling>
          <c:orientation val="minMax"/>
        </c:scaling>
        <c:delete val="0"/>
        <c:axPos val="b"/>
        <c:numFmt formatCode="General" sourceLinked="0"/>
        <c:majorTickMark val="none"/>
        <c:minorTickMark val="none"/>
        <c:tickLblPos val="low"/>
        <c:spPr>
          <a:ln w="12700" cap="flat">
            <a:noFill/>
            <a:prstDash val="solid"/>
            <a:miter lim="400000"/>
          </a:ln>
        </c:spPr>
        <c:txPr>
          <a:bodyPr rot="0"/>
          <a:lstStyle/>
          <a:p>
            <a:pPr>
              <a:defRPr sz="3400" b="0" i="0" u="none" strike="noStrike">
                <a:solidFill>
                  <a:srgbClr val="FFFFFF"/>
                </a:solidFill>
                <a:latin typeface="Graphik"/>
              </a:defRPr>
            </a:pPr>
            <a:endParaRPr lang="en-US"/>
          </a:p>
        </c:txPr>
        <c:crossAx val="2094734553"/>
        <c:crosses val="autoZero"/>
        <c:auto val="1"/>
        <c:lblAlgn val="ctr"/>
        <c:lblOffset val="100"/>
        <c:noMultiLvlLbl val="1"/>
      </c:catAx>
      <c:valAx>
        <c:axId val="2094734553"/>
        <c:scaling>
          <c:orientation val="minMax"/>
        </c:scaling>
        <c:delete val="0"/>
        <c:axPos val="l"/>
        <c:majorGridlines>
          <c:spPr>
            <a:ln w="9525" cap="flat">
              <a:solidFill>
                <a:srgbClr val="B8B8B8"/>
              </a:solidFill>
              <a:prstDash val="solid"/>
              <a:miter lim="400000"/>
            </a:ln>
          </c:spPr>
        </c:majorGridlines>
        <c:numFmt formatCode="General" sourceLinked="0"/>
        <c:majorTickMark val="none"/>
        <c:minorTickMark val="none"/>
        <c:tickLblPos val="nextTo"/>
        <c:spPr>
          <a:ln w="12700" cap="flat">
            <a:noFill/>
            <a:prstDash val="solid"/>
            <a:miter lim="400000"/>
          </a:ln>
        </c:spPr>
        <c:txPr>
          <a:bodyPr rot="0"/>
          <a:lstStyle/>
          <a:p>
            <a:pPr>
              <a:defRPr sz="3400" b="0" i="0" u="none" strike="noStrike">
                <a:solidFill>
                  <a:srgbClr val="FFFFFF"/>
                </a:solidFill>
                <a:latin typeface="Graphik"/>
              </a:defRPr>
            </a:pPr>
            <a:endParaRPr lang="en-US"/>
          </a:p>
        </c:txPr>
        <c:crossAx val="2094734552"/>
        <c:crosses val="autoZero"/>
        <c:crossBetween val="between"/>
        <c:majorUnit val="15"/>
        <c:minorUnit val="7.5"/>
      </c:valAx>
      <c:serAx>
        <c:axId val="2094734554"/>
        <c:scaling>
          <c:orientation val="minMax"/>
        </c:scaling>
        <c:delete val="0"/>
        <c:axPos val="b"/>
        <c:majorTickMark val="out"/>
        <c:minorTickMark val="none"/>
        <c:tickLblPos val="none"/>
        <c:spPr>
          <a:ln w="12700" cap="flat">
            <a:noFill/>
            <a:prstDash val="solid"/>
            <a:miter lim="400000"/>
          </a:ln>
        </c:spPr>
        <c:crossAx val="2094734553"/>
        <c:crosses val="autoZero"/>
        <c:tickLblSkip val="1"/>
      </c:ser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6500" y="12268782"/>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r>
              <a:t>Author and Date</a:t>
            </a:r>
          </a:p>
        </p:txBody>
      </p:sp>
      <p:sp>
        <p:nvSpPr>
          <p:cNvPr id="12" name="Body Level One…"/>
          <p:cNvSpPr txBox="1">
            <a:spLocks noGrp="1"/>
          </p:cNvSpPr>
          <p:nvPr>
            <p:ph type="body" sz="quarter" idx="1" hasCustomPrompt="1"/>
          </p:nvPr>
        </p:nvSpPr>
        <p:spPr>
          <a:xfrm>
            <a:off x="1206500" y="7357839"/>
            <a:ext cx="21971000" cy="2006601"/>
          </a:xfrm>
          <a:prstGeom prst="rect">
            <a:avLst/>
          </a:prstGeom>
        </p:spPr>
        <p:txBody>
          <a:bodyPr/>
          <a:lstStyle>
            <a:lvl1pPr marL="0" indent="0" defTabSz="825500">
              <a:spcBef>
                <a:spcPts val="0"/>
              </a:spcBef>
              <a:buSzTx/>
              <a:buNone/>
              <a:defRPr sz="5500">
                <a:latin typeface="+mj-lt"/>
                <a:ea typeface="+mj-ea"/>
                <a:cs typeface="+mj-cs"/>
                <a:sym typeface="Produkt Extralight"/>
              </a:defRPr>
            </a:lvl1pPr>
            <a:lvl2pPr marL="0" indent="457200" defTabSz="825500">
              <a:spcBef>
                <a:spcPts val="0"/>
              </a:spcBef>
              <a:buSzTx/>
              <a:buNone/>
              <a:defRPr sz="5500">
                <a:latin typeface="+mj-lt"/>
                <a:ea typeface="+mj-ea"/>
                <a:cs typeface="+mj-cs"/>
                <a:sym typeface="Produkt Extralight"/>
              </a:defRPr>
            </a:lvl2pPr>
            <a:lvl3pPr marL="0" indent="914400" defTabSz="825500">
              <a:spcBef>
                <a:spcPts val="0"/>
              </a:spcBef>
              <a:buSzTx/>
              <a:buNone/>
              <a:defRPr sz="5500">
                <a:latin typeface="+mj-lt"/>
                <a:ea typeface="+mj-ea"/>
                <a:cs typeface="+mj-cs"/>
                <a:sym typeface="Produkt Extralight"/>
              </a:defRPr>
            </a:lvl3pPr>
            <a:lvl4pPr marL="0" indent="1371600" defTabSz="825500">
              <a:spcBef>
                <a:spcPts val="0"/>
              </a:spcBef>
              <a:buSzTx/>
              <a:buNone/>
              <a:defRPr sz="5500">
                <a:latin typeface="+mj-lt"/>
                <a:ea typeface="+mj-ea"/>
                <a:cs typeface="+mj-cs"/>
                <a:sym typeface="Produkt Extralight"/>
              </a:defRPr>
            </a:lvl4pPr>
            <a:lvl5pPr marL="0" indent="1828800" defTabSz="825500">
              <a:spcBef>
                <a:spcPts val="0"/>
              </a:spcBef>
              <a:buSzTx/>
              <a:buNone/>
              <a:defRPr sz="5500">
                <a:latin typeface="+mj-lt"/>
                <a:ea typeface="+mj-ea"/>
                <a:cs typeface="+mj-cs"/>
                <a:sym typeface="Produkt Extralight"/>
              </a:defRPr>
            </a:lvl5pPr>
          </a:lstStyle>
          <a:p>
            <a:r>
              <a:t>Presentation Subtitle</a:t>
            </a:r>
          </a:p>
          <a:p>
            <a:pPr lvl="1"/>
            <a:endParaRPr/>
          </a:p>
          <a:p>
            <a:pPr lvl="2"/>
            <a:endParaRPr/>
          </a:p>
          <a:p>
            <a:pPr lvl="3"/>
            <a:endParaRPr/>
          </a:p>
          <a:p>
            <a:pPr lvl="4"/>
            <a:endParaRPr/>
          </a:p>
        </p:txBody>
      </p:sp>
      <p:sp>
        <p:nvSpPr>
          <p:cNvPr id="13" name="Presentation Title"/>
          <p:cNvSpPr txBox="1">
            <a:spLocks noGrp="1"/>
          </p:cNvSpPr>
          <p:nvPr>
            <p:ph type="title" hasCustomPrompt="1"/>
          </p:nvPr>
        </p:nvSpPr>
        <p:spPr>
          <a:xfrm>
            <a:off x="1206500" y="2621719"/>
            <a:ext cx="21971000" cy="4648201"/>
          </a:xfrm>
          <a:prstGeom prst="rect">
            <a:avLst/>
          </a:prstGeom>
        </p:spPr>
        <p:txBody>
          <a:bodyPr anchor="b"/>
          <a:lstStyle>
            <a:lvl1pPr defTabSz="355600">
              <a:defRPr sz="12000" b="0" spc="-119">
                <a:solidFill>
                  <a:srgbClr val="FFFFFF"/>
                </a:solidFill>
                <a:latin typeface="+mj-lt"/>
                <a:ea typeface="+mj-ea"/>
                <a:cs typeface="+mj-cs"/>
                <a:sym typeface="Produkt Extralight"/>
              </a:defRPr>
            </a:lvl1pPr>
          </a:lstStyle>
          <a:p>
            <a:r>
              <a:t>Presentation Title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000000"/>
        </a:solidFill>
        <a:effectLst/>
      </p:bgPr>
    </p:bg>
    <p:spTree>
      <p:nvGrpSpPr>
        <p:cNvPr id="1" name=""/>
        <p:cNvGrpSpPr/>
        <p:nvPr/>
      </p:nvGrpSpPr>
      <p:grpSpPr>
        <a:xfrm>
          <a:off x="0" y="0"/>
          <a:ext cx="0" cy="0"/>
          <a:chOff x="0" y="0"/>
          <a:chExt cx="0" cy="0"/>
        </a:xfrm>
      </p:grpSpPr>
      <p:sp>
        <p:nvSpPr>
          <p:cNvPr id="21" name="Grey abstract curve and line"/>
          <p:cNvSpPr>
            <a:spLocks noGrp="1"/>
          </p:cNvSpPr>
          <p:nvPr>
            <p:ph type="pic" idx="21"/>
          </p:nvPr>
        </p:nvSpPr>
        <p:spPr>
          <a:xfrm>
            <a:off x="-50800" y="-1828800"/>
            <a:ext cx="24574500" cy="17373600"/>
          </a:xfrm>
          <a:prstGeom prst="rect">
            <a:avLst/>
          </a:prstGeom>
        </p:spPr>
        <p:txBody>
          <a:bodyPr lIns="91439" tIns="45719" rIns="91439" bIns="45719">
            <a:noAutofit/>
          </a:bodyPr>
          <a:lstStyle/>
          <a:p>
            <a:endParaRPr/>
          </a:p>
        </p:txBody>
      </p:sp>
      <p:sp>
        <p:nvSpPr>
          <p:cNvPr id="22" name="Author and Date"/>
          <p:cNvSpPr txBox="1">
            <a:spLocks noGrp="1"/>
          </p:cNvSpPr>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r>
              <a:t>Author and Date</a:t>
            </a:r>
          </a:p>
        </p:txBody>
      </p:sp>
      <p:sp>
        <p:nvSpPr>
          <p:cNvPr id="23" name="Body Level One…"/>
          <p:cNvSpPr txBox="1">
            <a:spLocks noGrp="1"/>
          </p:cNvSpPr>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j-lt"/>
                <a:ea typeface="+mj-ea"/>
                <a:cs typeface="+mj-cs"/>
                <a:sym typeface="Produkt Extralight"/>
              </a:defRPr>
            </a:lvl1pPr>
            <a:lvl2pPr marL="0" indent="457200" defTabSz="825500">
              <a:spcBef>
                <a:spcPts val="0"/>
              </a:spcBef>
              <a:buSzTx/>
              <a:buNone/>
              <a:defRPr sz="5500">
                <a:latin typeface="+mj-lt"/>
                <a:ea typeface="+mj-ea"/>
                <a:cs typeface="+mj-cs"/>
                <a:sym typeface="Produkt Extralight"/>
              </a:defRPr>
            </a:lvl2pPr>
            <a:lvl3pPr marL="0" indent="914400" defTabSz="825500">
              <a:spcBef>
                <a:spcPts val="0"/>
              </a:spcBef>
              <a:buSzTx/>
              <a:buNone/>
              <a:defRPr sz="5500">
                <a:latin typeface="+mj-lt"/>
                <a:ea typeface="+mj-ea"/>
                <a:cs typeface="+mj-cs"/>
                <a:sym typeface="Produkt Extralight"/>
              </a:defRPr>
            </a:lvl3pPr>
            <a:lvl4pPr marL="0" indent="1371600" defTabSz="825500">
              <a:spcBef>
                <a:spcPts val="0"/>
              </a:spcBef>
              <a:buSzTx/>
              <a:buNone/>
              <a:defRPr sz="5500">
                <a:latin typeface="+mj-lt"/>
                <a:ea typeface="+mj-ea"/>
                <a:cs typeface="+mj-cs"/>
                <a:sym typeface="Produkt Extralight"/>
              </a:defRPr>
            </a:lvl4pPr>
            <a:lvl5pPr marL="0" indent="1828800" defTabSz="825500">
              <a:spcBef>
                <a:spcPts val="0"/>
              </a:spcBef>
              <a:buSzTx/>
              <a:buNone/>
              <a:defRPr sz="5500">
                <a:latin typeface="+mj-lt"/>
                <a:ea typeface="+mj-ea"/>
                <a:cs typeface="+mj-cs"/>
                <a:sym typeface="Produkt Extralight"/>
              </a:defRPr>
            </a:lvl5pPr>
          </a:lstStyle>
          <a:p>
            <a:r>
              <a:t>Presentation Subtitle</a:t>
            </a:r>
          </a:p>
          <a:p>
            <a:pPr lvl="1"/>
            <a:endParaRPr/>
          </a:p>
          <a:p>
            <a:pPr lvl="2"/>
            <a:endParaRPr/>
          </a:p>
          <a:p>
            <a:pPr lvl="3"/>
            <a:endParaRPr/>
          </a:p>
          <a:p>
            <a:pPr lvl="4"/>
            <a:endParaRPr/>
          </a:p>
        </p:txBody>
      </p:sp>
      <p:sp>
        <p:nvSpPr>
          <p:cNvPr id="24" name="Presentation Title"/>
          <p:cNvSpPr txBox="1">
            <a:spLocks noGrp="1"/>
          </p:cNvSpPr>
          <p:nvPr>
            <p:ph type="title" hasCustomPrompt="1"/>
          </p:nvPr>
        </p:nvSpPr>
        <p:spPr>
          <a:xfrm>
            <a:off x="1206500" y="2611945"/>
            <a:ext cx="21971000" cy="4648201"/>
          </a:xfrm>
          <a:prstGeom prst="rect">
            <a:avLst/>
          </a:prstGeom>
        </p:spPr>
        <p:txBody>
          <a:bodyPr anchor="b"/>
          <a:lstStyle>
            <a:lvl1pPr defTabSz="355600">
              <a:defRPr sz="12000" b="0" spc="-119">
                <a:solidFill>
                  <a:srgbClr val="FFFFFF"/>
                </a:solidFill>
                <a:latin typeface="+mj-lt"/>
                <a:ea typeface="+mj-ea"/>
                <a:cs typeface="+mj-cs"/>
                <a:sym typeface="Produkt Extralight"/>
              </a:defRPr>
            </a:lvl1pPr>
          </a:lstStyle>
          <a:p>
            <a:r>
              <a:t>Presentation Title</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Corridor of an open-air concrete structure under a partly cloudy sky"/>
          <p:cNvSpPr>
            <a:spLocks noGrp="1"/>
          </p:cNvSpPr>
          <p:nvPr>
            <p:ph type="pic" idx="21"/>
          </p:nvPr>
        </p:nvSpPr>
        <p:spPr>
          <a:xfrm>
            <a:off x="8140700" y="0"/>
            <a:ext cx="20574000" cy="137160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3335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149476"/>
            <a:ext cx="9779000" cy="5385424"/>
          </a:xfrm>
          <a:prstGeom prst="rect">
            <a:avLst/>
          </a:prstGeom>
        </p:spPr>
        <p:txBody>
          <a:bodyPr/>
          <a:lstStyle>
            <a:lvl1pPr marL="0" indent="0" defTabSz="825500">
              <a:spcBef>
                <a:spcPts val="0"/>
              </a:spcBef>
              <a:buSzTx/>
              <a:buNone/>
              <a:defRPr sz="5500">
                <a:latin typeface="+mj-lt"/>
                <a:ea typeface="+mj-ea"/>
                <a:cs typeface="+mj-cs"/>
                <a:sym typeface="Produkt Extralight"/>
              </a:defRPr>
            </a:lvl1pPr>
            <a:lvl2pPr marL="0" indent="457200" defTabSz="825500">
              <a:spcBef>
                <a:spcPts val="0"/>
              </a:spcBef>
              <a:buSzTx/>
              <a:buNone/>
              <a:defRPr sz="5500">
                <a:latin typeface="+mj-lt"/>
                <a:ea typeface="+mj-ea"/>
                <a:cs typeface="+mj-cs"/>
                <a:sym typeface="Produkt Extralight"/>
              </a:defRPr>
            </a:lvl2pPr>
            <a:lvl3pPr marL="0" indent="914400" defTabSz="825500">
              <a:spcBef>
                <a:spcPts val="0"/>
              </a:spcBef>
              <a:buSzTx/>
              <a:buNone/>
              <a:defRPr sz="5500">
                <a:latin typeface="+mj-lt"/>
                <a:ea typeface="+mj-ea"/>
                <a:cs typeface="+mj-cs"/>
                <a:sym typeface="Produkt Extralight"/>
              </a:defRPr>
            </a:lvl3pPr>
            <a:lvl4pPr marL="0" indent="1371600" defTabSz="825500">
              <a:spcBef>
                <a:spcPts val="0"/>
              </a:spcBef>
              <a:buSzTx/>
              <a:buNone/>
              <a:defRPr sz="5500">
                <a:latin typeface="+mj-lt"/>
                <a:ea typeface="+mj-ea"/>
                <a:cs typeface="+mj-cs"/>
                <a:sym typeface="Produkt Extralight"/>
              </a:defRPr>
            </a:lvl4pPr>
            <a:lvl5pPr marL="0" indent="1828800" defTabSz="825500">
              <a:spcBef>
                <a:spcPts val="0"/>
              </a:spcBef>
              <a:buSzTx/>
              <a:buNone/>
              <a:defRPr sz="5500">
                <a:latin typeface="+mj-lt"/>
                <a:ea typeface="+mj-ea"/>
                <a:cs typeface="+mj-cs"/>
                <a:sym typeface="Produkt Extralight"/>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Slide Subtitle</a:t>
            </a:r>
          </a:p>
        </p:txBody>
      </p:sp>
      <p:sp>
        <p:nvSpPr>
          <p:cNvPr id="61" name="View through a mesh-like ceiling under a blue sky"/>
          <p:cNvSpPr>
            <a:spLocks noGrp="1"/>
          </p:cNvSpPr>
          <p:nvPr>
            <p:ph type="pic" idx="22"/>
          </p:nvPr>
        </p:nvSpPr>
        <p:spPr>
          <a:xfrm>
            <a:off x="8140700" y="0"/>
            <a:ext cx="20574000" cy="13716000"/>
          </a:xfrm>
          <a:prstGeom prst="rect">
            <a:avLst/>
          </a:prstGeom>
        </p:spPr>
        <p:txBody>
          <a:bodyPr lIns="91439" tIns="45719" rIns="91439" bIns="45719">
            <a:noAutofit/>
          </a:bodyPr>
          <a:lstStyle/>
          <a:p>
            <a:endParaRPr/>
          </a:p>
        </p:txBody>
      </p:sp>
      <p:sp>
        <p:nvSpPr>
          <p:cNvPr id="62" name="Slide Title"/>
          <p:cNvSpPr txBox="1">
            <a:spLocks noGrp="1"/>
          </p:cNvSpPr>
          <p:nvPr>
            <p:ph type="title" hasCustomPrompt="1"/>
          </p:nvPr>
        </p:nvSpPr>
        <p:spPr>
          <a:xfrm>
            <a:off x="1206500" y="635000"/>
            <a:ext cx="9779000" cy="1689100"/>
          </a:xfrm>
          <a:prstGeom prst="rect">
            <a:avLst/>
          </a:prstGeom>
        </p:spPr>
        <p:txBody>
          <a:bodyPr/>
          <a:lstStyle/>
          <a:p>
            <a:r>
              <a:t>Slide Title</a:t>
            </a:r>
          </a:p>
        </p:txBody>
      </p:sp>
      <p:sp>
        <p:nvSpPr>
          <p:cNvPr id="63"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Slide Subtitle</a:t>
            </a:r>
          </a:p>
        </p:txBody>
      </p:sp>
      <p:sp>
        <p:nvSpPr>
          <p:cNvPr id="72" name="Slide Title"/>
          <p:cNvSpPr txBox="1">
            <a:spLocks noGrp="1"/>
          </p:cNvSpPr>
          <p:nvPr>
            <p:ph type="title" hasCustomPrompt="1"/>
          </p:nvPr>
        </p:nvSpPr>
        <p:spPr>
          <a:prstGeom prst="rect">
            <a:avLst/>
          </a:prstGeom>
        </p:spPr>
        <p:txBody>
          <a:bodyPr/>
          <a:lstStyle/>
          <a:p>
            <a:r>
              <a:t>Slide Title</a:t>
            </a:r>
          </a:p>
        </p:txBody>
      </p:sp>
      <p:sp>
        <p:nvSpPr>
          <p:cNvPr id="73"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Slide Subtitle</a:t>
            </a:r>
          </a:p>
        </p:txBody>
      </p:sp>
      <p:sp>
        <p:nvSpPr>
          <p:cNvPr id="82" name="Slide Title"/>
          <p:cNvSpPr txBox="1">
            <a:spLocks noGrp="1"/>
          </p:cNvSpPr>
          <p:nvPr>
            <p:ph type="title" hasCustomPrompt="1"/>
          </p:nvPr>
        </p:nvSpPr>
        <p:spPr>
          <a:xfrm>
            <a:off x="1206500" y="635000"/>
            <a:ext cx="9779000" cy="1689100"/>
          </a:xfrm>
          <a:prstGeom prst="rect">
            <a:avLst/>
          </a:prstGeom>
        </p:spPr>
        <p:txBody>
          <a:bodyPr/>
          <a:lstStyle/>
          <a:p>
            <a:r>
              <a:t>Slide Title</a:t>
            </a:r>
          </a:p>
        </p:txBody>
      </p:sp>
      <p:sp>
        <p:nvSpPr>
          <p:cNvPr id="83"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500" y="3906899"/>
            <a:ext cx="21971004" cy="4648201"/>
          </a:xfrm>
          <a:prstGeom prst="rect">
            <a:avLst/>
          </a:prstGeom>
        </p:spPr>
        <p:txBody>
          <a:bodyPr anchor="ctr"/>
          <a:lstStyle>
            <a:lvl1pPr>
              <a:defRPr sz="12000" b="0" spc="-119">
                <a:solidFill>
                  <a:srgbClr val="FFFFFF"/>
                </a:solidFill>
                <a:latin typeface="+mj-lt"/>
                <a:ea typeface="+mj-ea"/>
                <a:cs typeface="+mj-cs"/>
                <a:sym typeface="Produkt Extralight"/>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Subtitle"/>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j-lt"/>
                <a:ea typeface="+mj-ea"/>
                <a:cs typeface="+mj-cs"/>
                <a:sym typeface="Produkt Extralight"/>
              </a:defRPr>
            </a:lvl1pPr>
          </a:lstStyle>
          <a:p>
            <a:r>
              <a:t>Agenda Subtitle</a:t>
            </a:r>
          </a:p>
        </p:txBody>
      </p:sp>
      <p:sp>
        <p:nvSpPr>
          <p:cNvPr id="109" name="Body Level One…"/>
          <p:cNvSpPr txBox="1">
            <a:spLocks noGrp="1"/>
          </p:cNvSpPr>
          <p:nvPr>
            <p:ph type="body" idx="1" hasCustomPrompt="1"/>
          </p:nvPr>
        </p:nvSpPr>
        <p:spPr>
          <a:xfrm>
            <a:off x="1206500" y="4248504"/>
            <a:ext cx="21971000" cy="8256012"/>
          </a:xfrm>
          <a:prstGeom prst="rect">
            <a:avLst/>
          </a:prstGeom>
        </p:spPr>
        <p:txBody>
          <a:bodyPr/>
          <a:lstStyle>
            <a:lvl1pPr marL="0" indent="0" defTabSz="825500">
              <a:spcBef>
                <a:spcPts val="6000"/>
              </a:spcBef>
              <a:buSzTx/>
              <a:buNone/>
              <a:defRPr sz="5000"/>
            </a:lvl1pPr>
            <a:lvl2pPr marL="0" indent="457200" defTabSz="825500">
              <a:spcBef>
                <a:spcPts val="6000"/>
              </a:spcBef>
              <a:buSzTx/>
              <a:buNone/>
              <a:defRPr sz="5000"/>
            </a:lvl2pPr>
            <a:lvl3pPr marL="0" indent="914400" defTabSz="825500">
              <a:spcBef>
                <a:spcPts val="6000"/>
              </a:spcBef>
              <a:buSzTx/>
              <a:buNone/>
              <a:defRPr sz="5000"/>
            </a:lvl3pPr>
            <a:lvl4pPr marL="0" indent="1371600" defTabSz="825500">
              <a:spcBef>
                <a:spcPts val="6000"/>
              </a:spcBef>
              <a:buSzTx/>
              <a:buNone/>
              <a:defRPr sz="5000"/>
            </a:lvl4pPr>
            <a:lvl5pPr marL="0" indent="1828800" defTabSz="825500">
              <a:spcBef>
                <a:spcPts val="6000"/>
              </a:spcBef>
              <a:buSzTx/>
              <a:buNone/>
              <a:defRPr sz="5000"/>
            </a:lvl5pPr>
          </a:lstStyle>
          <a:p>
            <a:r>
              <a:t>Agenda Topics</a:t>
            </a:r>
          </a:p>
          <a:p>
            <a:pPr lvl="1"/>
            <a:endParaRPr/>
          </a:p>
          <a:p>
            <a:pPr lvl="2"/>
            <a:endParaRPr/>
          </a:p>
          <a:p>
            <a:pPr lvl="3"/>
            <a:endParaRPr/>
          </a:p>
          <a:p>
            <a:pPr lvl="4"/>
            <a:endParaRPr/>
          </a:p>
        </p:txBody>
      </p:sp>
      <p:sp>
        <p:nvSpPr>
          <p:cNvPr id="110" name="Agenda Title"/>
          <p:cNvSpPr txBox="1">
            <a:spLocks noGrp="1"/>
          </p:cNvSpPr>
          <p:nvPr>
            <p:ph type="title" hasCustomPrompt="1"/>
          </p:nvPr>
        </p:nvSpPr>
        <p:spPr>
          <a:prstGeom prst="rect">
            <a:avLst/>
          </a:prstGeom>
        </p:spPr>
        <p:txBody>
          <a:bodyPr/>
          <a:lstStyle/>
          <a:p>
            <a:r>
              <a:t>Agenda Title</a:t>
            </a: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191644"/>
            <a:ext cx="21971000" cy="4089401"/>
          </a:xfrm>
          <a:prstGeom prst="rect">
            <a:avLst/>
          </a:prstGeom>
        </p:spPr>
        <p:txBody>
          <a:bodyPr anchor="ctr"/>
          <a:lstStyle>
            <a:lvl1pPr marL="0" indent="0" algn="ctr">
              <a:lnSpc>
                <a:spcPct val="90000"/>
              </a:lnSpc>
              <a:spcBef>
                <a:spcPts val="0"/>
              </a:spcBef>
              <a:buSzTx/>
              <a:buNone/>
              <a:defRPr sz="12000" spc="-119">
                <a:latin typeface="+mj-lt"/>
                <a:ea typeface="+mj-ea"/>
                <a:cs typeface="+mj-cs"/>
                <a:sym typeface="Produkt Extralight"/>
              </a:defRPr>
            </a:lvl1pPr>
            <a:lvl2pPr marL="0" indent="457200" algn="ctr">
              <a:lnSpc>
                <a:spcPct val="90000"/>
              </a:lnSpc>
              <a:spcBef>
                <a:spcPts val="0"/>
              </a:spcBef>
              <a:buSzTx/>
              <a:buNone/>
              <a:defRPr sz="12000" spc="-119">
                <a:latin typeface="+mj-lt"/>
                <a:ea typeface="+mj-ea"/>
                <a:cs typeface="+mj-cs"/>
                <a:sym typeface="Produkt Extralight"/>
              </a:defRPr>
            </a:lvl2pPr>
            <a:lvl3pPr marL="0" indent="914400" algn="ctr">
              <a:lnSpc>
                <a:spcPct val="90000"/>
              </a:lnSpc>
              <a:spcBef>
                <a:spcPts val="0"/>
              </a:spcBef>
              <a:buSzTx/>
              <a:buNone/>
              <a:defRPr sz="12000" spc="-119">
                <a:latin typeface="+mj-lt"/>
                <a:ea typeface="+mj-ea"/>
                <a:cs typeface="+mj-cs"/>
                <a:sym typeface="Produkt Extralight"/>
              </a:defRPr>
            </a:lvl3pPr>
            <a:lvl4pPr marL="0" indent="1371600" algn="ctr">
              <a:lnSpc>
                <a:spcPct val="90000"/>
              </a:lnSpc>
              <a:spcBef>
                <a:spcPts val="0"/>
              </a:spcBef>
              <a:buSzTx/>
              <a:buNone/>
              <a:defRPr sz="12000" spc="-119">
                <a:latin typeface="+mj-lt"/>
                <a:ea typeface="+mj-ea"/>
                <a:cs typeface="+mj-cs"/>
                <a:sym typeface="Produkt Extralight"/>
              </a:defRPr>
            </a:lvl4pPr>
            <a:lvl5pPr marL="0" indent="1828800" algn="ctr">
              <a:lnSpc>
                <a:spcPct val="90000"/>
              </a:lnSpc>
              <a:spcBef>
                <a:spcPts val="0"/>
              </a:spcBef>
              <a:buSzTx/>
              <a:buNone/>
              <a:defRPr sz="12000" spc="-119">
                <a:latin typeface="+mj-lt"/>
                <a:ea typeface="+mj-ea"/>
                <a:cs typeface="+mj-cs"/>
                <a:sym typeface="Produkt Extralight"/>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207360"/>
            <a:ext cx="21971000" cy="7351451"/>
          </a:xfrm>
          <a:prstGeom prst="rect">
            <a:avLst/>
          </a:prstGeom>
        </p:spPr>
        <p:txBody>
          <a:bodyPr anchor="b"/>
          <a:lstStyle>
            <a:lvl1pPr marL="0" indent="0" algn="ctr">
              <a:lnSpc>
                <a:spcPct val="90000"/>
              </a:lnSpc>
              <a:spcBef>
                <a:spcPts val="0"/>
              </a:spcBef>
              <a:buSzTx/>
              <a:buNone/>
              <a:defRPr sz="35000" spc="-1750">
                <a:latin typeface="+mj-lt"/>
                <a:ea typeface="+mj-ea"/>
                <a:cs typeface="+mj-cs"/>
                <a:sym typeface="Produkt Extralight"/>
              </a:defRPr>
            </a:lvl1pPr>
            <a:lvl2pPr marL="0" indent="457200" algn="ctr">
              <a:lnSpc>
                <a:spcPct val="90000"/>
              </a:lnSpc>
              <a:spcBef>
                <a:spcPts val="0"/>
              </a:spcBef>
              <a:buSzTx/>
              <a:buNone/>
              <a:defRPr sz="35000" spc="-1750">
                <a:latin typeface="+mj-lt"/>
                <a:ea typeface="+mj-ea"/>
                <a:cs typeface="+mj-cs"/>
                <a:sym typeface="Produkt Extralight"/>
              </a:defRPr>
            </a:lvl2pPr>
            <a:lvl3pPr marL="0" indent="914400" algn="ctr">
              <a:lnSpc>
                <a:spcPct val="90000"/>
              </a:lnSpc>
              <a:spcBef>
                <a:spcPts val="0"/>
              </a:spcBef>
              <a:buSzTx/>
              <a:buNone/>
              <a:defRPr sz="35000" spc="-1750">
                <a:latin typeface="+mj-lt"/>
                <a:ea typeface="+mj-ea"/>
                <a:cs typeface="+mj-cs"/>
                <a:sym typeface="Produkt Extralight"/>
              </a:defRPr>
            </a:lvl3pPr>
            <a:lvl4pPr marL="0" indent="1371600" algn="ctr">
              <a:lnSpc>
                <a:spcPct val="90000"/>
              </a:lnSpc>
              <a:spcBef>
                <a:spcPts val="0"/>
              </a:spcBef>
              <a:buSzTx/>
              <a:buNone/>
              <a:defRPr sz="35000" spc="-1750">
                <a:latin typeface="+mj-lt"/>
                <a:ea typeface="+mj-ea"/>
                <a:cs typeface="+mj-cs"/>
                <a:sym typeface="Produkt Extralight"/>
              </a:defRPr>
            </a:lvl4pPr>
            <a:lvl5pPr marL="0" indent="1828800" algn="ctr">
              <a:lnSpc>
                <a:spcPct val="90000"/>
              </a:lnSpc>
              <a:spcBef>
                <a:spcPts val="0"/>
              </a:spcBef>
              <a:buSzTx/>
              <a:buNone/>
              <a:defRPr sz="35000" spc="-1750">
                <a:latin typeface="+mj-lt"/>
                <a:ea typeface="+mj-ea"/>
                <a:cs typeface="+mj-cs"/>
                <a:sym typeface="Produkt Extralight"/>
              </a:defRPr>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z="5500" spc="-55">
                <a:latin typeface="+mj-lt"/>
                <a:ea typeface="+mj-ea"/>
                <a:cs typeface="+mj-cs"/>
                <a:sym typeface="Produkt Extralight"/>
              </a:defRPr>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5" name="Body Level One…"/>
          <p:cNvSpPr txBox="1">
            <a:spLocks noGrp="1"/>
          </p:cNvSpPr>
          <p:nvPr>
            <p:ph type="body" sz="quarter" idx="1" hasCustomPrompt="1"/>
          </p:nvPr>
        </p:nvSpPr>
        <p:spPr>
          <a:xfrm>
            <a:off x="5194300" y="4165600"/>
            <a:ext cx="13995400" cy="4428667"/>
          </a:xfrm>
          <a:prstGeom prst="rect">
            <a:avLst/>
          </a:prstGeom>
        </p:spPr>
        <p:txBody>
          <a:bodyPr anchor="b"/>
          <a:lstStyle>
            <a:lvl1pPr marL="254000" indent="-254000">
              <a:lnSpc>
                <a:spcPct val="90000"/>
              </a:lnSpc>
              <a:spcBef>
                <a:spcPts val="0"/>
              </a:spcBef>
              <a:buSzTx/>
              <a:buNone/>
              <a:defRPr sz="9300" spc="-93">
                <a:latin typeface="+mj-lt"/>
                <a:ea typeface="+mj-ea"/>
                <a:cs typeface="+mj-cs"/>
                <a:sym typeface="Produkt Extralight"/>
              </a:defRPr>
            </a:lvl1pPr>
            <a:lvl2pPr marL="254000" indent="203200">
              <a:lnSpc>
                <a:spcPct val="90000"/>
              </a:lnSpc>
              <a:spcBef>
                <a:spcPts val="0"/>
              </a:spcBef>
              <a:buSzTx/>
              <a:buNone/>
              <a:defRPr sz="9300" spc="-93">
                <a:latin typeface="+mj-lt"/>
                <a:ea typeface="+mj-ea"/>
                <a:cs typeface="+mj-cs"/>
                <a:sym typeface="Produkt Extralight"/>
              </a:defRPr>
            </a:lvl2pPr>
            <a:lvl3pPr marL="254000" indent="660400">
              <a:lnSpc>
                <a:spcPct val="90000"/>
              </a:lnSpc>
              <a:spcBef>
                <a:spcPts val="0"/>
              </a:spcBef>
              <a:buSzTx/>
              <a:buNone/>
              <a:defRPr sz="9300" spc="-93">
                <a:latin typeface="+mj-lt"/>
                <a:ea typeface="+mj-ea"/>
                <a:cs typeface="+mj-cs"/>
                <a:sym typeface="Produkt Extralight"/>
              </a:defRPr>
            </a:lvl3pPr>
            <a:lvl4pPr marL="254000" indent="1117600">
              <a:lnSpc>
                <a:spcPct val="90000"/>
              </a:lnSpc>
              <a:spcBef>
                <a:spcPts val="0"/>
              </a:spcBef>
              <a:buSzTx/>
              <a:buNone/>
              <a:defRPr sz="9300" spc="-93">
                <a:latin typeface="+mj-lt"/>
                <a:ea typeface="+mj-ea"/>
                <a:cs typeface="+mj-cs"/>
                <a:sym typeface="Produkt Extralight"/>
              </a:defRPr>
            </a:lvl4pPr>
            <a:lvl5pPr marL="254000" indent="1574800">
              <a:lnSpc>
                <a:spcPct val="90000"/>
              </a:lnSpc>
              <a:spcBef>
                <a:spcPts val="0"/>
              </a:spcBef>
              <a:buSzTx/>
              <a:buNone/>
              <a:defRPr sz="9300" spc="-93">
                <a:latin typeface="+mj-lt"/>
                <a:ea typeface="+mj-ea"/>
                <a:cs typeface="+mj-cs"/>
                <a:sym typeface="Produkt Extralight"/>
              </a:defRPr>
            </a:lvl5pPr>
          </a:lstStyle>
          <a:p>
            <a:r>
              <a:t>“Notable Quote”</a:t>
            </a:r>
          </a:p>
          <a:p>
            <a:pPr lvl="1"/>
            <a:endParaRPr/>
          </a:p>
          <a:p>
            <a:pPr lvl="2"/>
            <a:endParaRPr/>
          </a:p>
          <a:p>
            <a:pPr lvl="3"/>
            <a:endParaRPr/>
          </a:p>
          <a:p>
            <a:pPr lvl="4"/>
            <a:endParaRPr/>
          </a:p>
        </p:txBody>
      </p:sp>
      <p:sp>
        <p:nvSpPr>
          <p:cNvPr id="136" name="Attribution"/>
          <p:cNvSpPr txBox="1">
            <a:spLocks noGrp="1"/>
          </p:cNvSpPr>
          <p:nvPr>
            <p:ph type="body" sz="quarter" idx="21" hasCustomPrompt="1"/>
          </p:nvPr>
        </p:nvSpPr>
        <p:spPr>
          <a:xfrm>
            <a:off x="5456257" y="9559997"/>
            <a:ext cx="13471486" cy="698501"/>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r>
              <a:t>Attribution</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lack and white close-up of curved pieces of paper"/>
          <p:cNvSpPr>
            <a:spLocks noGrp="1"/>
          </p:cNvSpPr>
          <p:nvPr>
            <p:ph type="pic" sz="quarter" idx="21"/>
          </p:nvPr>
        </p:nvSpPr>
        <p:spPr>
          <a:xfrm>
            <a:off x="7353300" y="3632200"/>
            <a:ext cx="9677400" cy="6451600"/>
          </a:xfrm>
          <a:prstGeom prst="rect">
            <a:avLst/>
          </a:prstGeom>
        </p:spPr>
        <p:txBody>
          <a:bodyPr lIns="91439" tIns="45719" rIns="91439" bIns="45719">
            <a:noAutofit/>
          </a:bodyPr>
          <a:lstStyle/>
          <a:p>
            <a:endParaRPr/>
          </a:p>
        </p:txBody>
      </p:sp>
      <p:sp>
        <p:nvSpPr>
          <p:cNvPr id="145" name="Grey disc against a grey background"/>
          <p:cNvSpPr>
            <a:spLocks noGrp="1"/>
          </p:cNvSpPr>
          <p:nvPr>
            <p:ph type="pic" sz="quarter" idx="22"/>
          </p:nvPr>
        </p:nvSpPr>
        <p:spPr>
          <a:xfrm>
            <a:off x="14897100" y="3632200"/>
            <a:ext cx="9131300" cy="6457073"/>
          </a:xfrm>
          <a:prstGeom prst="rect">
            <a:avLst/>
          </a:prstGeom>
        </p:spPr>
        <p:txBody>
          <a:bodyPr lIns="91439" tIns="45719" rIns="91439" bIns="45719">
            <a:noAutofit/>
          </a:bodyPr>
          <a:lstStyle/>
          <a:p>
            <a:endParaRPr/>
          </a:p>
        </p:txBody>
      </p:sp>
      <p:sp>
        <p:nvSpPr>
          <p:cNvPr id="146" name="Abstract image of two grey discs intersecting"/>
          <p:cNvSpPr>
            <a:spLocks noGrp="1"/>
          </p:cNvSpPr>
          <p:nvPr>
            <p:ph type="pic" sz="half" idx="23"/>
          </p:nvPr>
        </p:nvSpPr>
        <p:spPr>
          <a:xfrm>
            <a:off x="-749300" y="3632200"/>
            <a:ext cx="11303000" cy="64516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bg>
      <p:bgPr>
        <a:solidFill>
          <a:srgbClr val="000000"/>
        </a:solidFill>
        <a:effectLst/>
      </p:bgPr>
    </p:bg>
    <p:spTree>
      <p:nvGrpSpPr>
        <p:cNvPr id="1" name=""/>
        <p:cNvGrpSpPr/>
        <p:nvPr/>
      </p:nvGrpSpPr>
      <p:grpSpPr>
        <a:xfrm>
          <a:off x="0" y="0"/>
          <a:ext cx="0" cy="0"/>
          <a:chOff x="0" y="0"/>
          <a:chExt cx="0" cy="0"/>
        </a:xfrm>
      </p:grpSpPr>
      <p:sp>
        <p:nvSpPr>
          <p:cNvPr id="154" name="Black and white close-up of woven texture"/>
          <p:cNvSpPr>
            <a:spLocks noGrp="1"/>
          </p:cNvSpPr>
          <p:nvPr>
            <p:ph type="pic" idx="21"/>
          </p:nvPr>
        </p:nvSpPr>
        <p:spPr>
          <a:xfrm>
            <a:off x="-38100" y="-1293994"/>
            <a:ext cx="24447500" cy="16295514"/>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9"/>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60642"/>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1pPr>
      <a:lvl2pPr marL="0" marR="0" indent="4572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2pPr>
      <a:lvl3pPr marL="0" marR="0" indent="9144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3pPr>
      <a:lvl4pPr marL="0" marR="0" indent="13716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4pPr>
      <a:lvl5pPr marL="0" marR="0" indent="18288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5pPr>
      <a:lvl6pPr marL="0" marR="0" indent="22860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6pPr>
      <a:lvl7pPr marL="0" marR="0" indent="27432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7pPr>
      <a:lvl8pPr marL="0" marR="0" indent="32004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8pPr>
      <a:lvl9pPr marL="0" marR="0" indent="3657600" algn="l" defTabSz="2438338" rtl="0" latinLnBrk="0">
        <a:lnSpc>
          <a:spcPct val="90000"/>
        </a:lnSpc>
        <a:spcBef>
          <a:spcPts val="0"/>
        </a:spcBef>
        <a:spcAft>
          <a:spcPts val="0"/>
        </a:spcAft>
        <a:buClrTx/>
        <a:buSzTx/>
        <a:buFontTx/>
        <a:buNone/>
        <a:tabLst/>
        <a:defRPr sz="11200" b="1" i="0" u="none" strike="noStrike" cap="none" spc="-112" baseline="0">
          <a:solidFill>
            <a:srgbClr val="FFFCF2"/>
          </a:solidFill>
          <a:uFillTx/>
          <a:latin typeface="+mn-lt"/>
          <a:ea typeface="+mn-ea"/>
          <a:cs typeface="+mn-cs"/>
          <a:sym typeface="Times New Roman"/>
        </a:defRPr>
      </a:lvl9pPr>
    </p:titleStyle>
    <p:bodyStyle>
      <a:lvl1pPr marL="4572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1pPr>
      <a:lvl2pPr marL="9144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2pPr>
      <a:lvl3pPr marL="13716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3pPr>
      <a:lvl4pPr marL="18288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4pPr>
      <a:lvl5pPr marL="22860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5pPr>
      <a:lvl6pPr marL="27432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6pPr>
      <a:lvl7pPr marL="32004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7pPr>
      <a:lvl8pPr marL="36576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8pPr>
      <a:lvl9pPr marL="4114800" marR="0" indent="-457200" algn="l" defTabSz="2438338" rtl="0" latinLnBrk="0">
        <a:lnSpc>
          <a:spcPct val="100000"/>
        </a:lnSpc>
        <a:spcBef>
          <a:spcPts val="4700"/>
        </a:spcBef>
        <a:spcAft>
          <a:spcPts val="0"/>
        </a:spcAft>
        <a:buClrTx/>
        <a:buSzPct val="100000"/>
        <a:buFontTx/>
        <a:buChar char="•"/>
        <a:tabLst/>
        <a:defRPr sz="4000" b="0" i="0" u="none" strike="noStrike" cap="none" spc="0" baseline="0">
          <a:solidFill>
            <a:srgbClr val="FFFFFF"/>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chart" Target="../charts/char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10.xml"/><Relationship Id="rId5" Type="http://schemas.openxmlformats.org/officeDocument/2006/relationships/chart" Target="../charts/char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pic>
        <p:nvPicPr>
          <p:cNvPr id="171" name="Grey abstract curve and line" descr="Grey abstract curve and line"/>
          <p:cNvPicPr>
            <a:picLocks noGrp="1" noChangeAspect="1"/>
          </p:cNvPicPr>
          <p:nvPr>
            <p:ph type="pic" idx="21"/>
          </p:nvPr>
        </p:nvPicPr>
        <p:blipFill>
          <a:blip r:embed="rId4"/>
          <a:srcRect l="206" t="10526" r="568" b="10526"/>
          <a:stretch>
            <a:fillRect/>
          </a:stretch>
        </p:blipFill>
        <p:spPr>
          <a:xfrm>
            <a:off x="0" y="0"/>
            <a:ext cx="24384001" cy="13716000"/>
          </a:xfrm>
          <a:prstGeom prst="rect">
            <a:avLst/>
          </a:prstGeom>
        </p:spPr>
      </p:pic>
      <p:sp>
        <p:nvSpPr>
          <p:cNvPr id="172" name="Pattern Recognition  and Anomaly Detection in Employee Activities  for Enhanced Security"/>
          <p:cNvSpPr txBox="1">
            <a:spLocks noGrp="1"/>
          </p:cNvSpPr>
          <p:nvPr>
            <p:ph type="body" sz="quarter" idx="1"/>
          </p:nvPr>
        </p:nvSpPr>
        <p:spPr>
          <a:xfrm>
            <a:off x="1680435" y="4865136"/>
            <a:ext cx="21971001" cy="2006601"/>
          </a:xfrm>
          <a:prstGeom prst="rect">
            <a:avLst/>
          </a:prstGeom>
        </p:spPr>
        <p:txBody>
          <a:bodyPr>
            <a:normAutofit lnSpcReduction="10000"/>
          </a:bodyPr>
          <a:lstStyle>
            <a:lvl1pPr defTabSz="206247">
              <a:lnSpc>
                <a:spcPct val="90000"/>
              </a:lnSpc>
              <a:defRPr sz="6960" b="1" spc="-69">
                <a:latin typeface="+mn-lt"/>
                <a:ea typeface="+mn-ea"/>
                <a:cs typeface="+mn-cs"/>
                <a:sym typeface="Times New Roman"/>
              </a:defRPr>
            </a:lvl1pPr>
          </a:lstStyle>
          <a:p>
            <a:r>
              <a:t>Pattern Recognition  and Anomaly Detection in Employee Activities  for Enhanced Security </a:t>
            </a:r>
          </a:p>
        </p:txBody>
      </p:sp>
      <p:sp>
        <p:nvSpPr>
          <p:cNvPr id="173" name="Secure Sense"/>
          <p:cNvSpPr txBox="1">
            <a:spLocks noGrp="1"/>
          </p:cNvSpPr>
          <p:nvPr>
            <p:ph type="title"/>
          </p:nvPr>
        </p:nvSpPr>
        <p:spPr>
          <a:xfrm>
            <a:off x="6514581" y="-895180"/>
            <a:ext cx="21971001" cy="4648201"/>
          </a:xfrm>
          <a:prstGeom prst="rect">
            <a:avLst/>
          </a:prstGeom>
        </p:spPr>
        <p:txBody>
          <a:bodyPr/>
          <a:lstStyle>
            <a:lvl1pPr>
              <a:defRPr b="1">
                <a:latin typeface="+mn-lt"/>
                <a:ea typeface="+mn-ea"/>
                <a:cs typeface="+mn-cs"/>
                <a:sym typeface="Times New Roman"/>
              </a:defRPr>
            </a:lvl1pPr>
          </a:lstStyle>
          <a:p>
            <a:r>
              <a:t>Secure Sense</a:t>
            </a:r>
          </a:p>
        </p:txBody>
      </p:sp>
      <p:sp>
        <p:nvSpPr>
          <p:cNvPr id="174" name="Team Mates…"/>
          <p:cNvSpPr txBox="1"/>
          <p:nvPr/>
        </p:nvSpPr>
        <p:spPr>
          <a:xfrm>
            <a:off x="18259649" y="9693851"/>
            <a:ext cx="4833054" cy="18335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nSpc>
                <a:spcPct val="30000"/>
              </a:lnSpc>
              <a:spcBef>
                <a:spcPts val="4300"/>
              </a:spcBef>
              <a:defRPr>
                <a:latin typeface="+mn-lt"/>
                <a:ea typeface="+mn-ea"/>
                <a:cs typeface="+mn-cs"/>
                <a:sym typeface="Times New Roman"/>
              </a:defRPr>
            </a:pPr>
            <a:r>
              <a:rPr b="1" dirty="0"/>
              <a:t>Team M</a:t>
            </a:r>
            <a:r>
              <a:rPr lang="en-IN" b="1" dirty="0"/>
              <a:t>embers</a:t>
            </a:r>
            <a:endParaRPr dirty="0"/>
          </a:p>
          <a:p>
            <a:pPr>
              <a:lnSpc>
                <a:spcPct val="30000"/>
              </a:lnSpc>
              <a:spcBef>
                <a:spcPts val="4300"/>
              </a:spcBef>
              <a:defRPr>
                <a:latin typeface="+mn-lt"/>
                <a:ea typeface="+mn-ea"/>
                <a:cs typeface="+mn-cs"/>
                <a:sym typeface="Times New Roman"/>
              </a:defRPr>
            </a:pPr>
            <a:r>
              <a:rPr dirty="0"/>
              <a:t>Muni Eshwar </a:t>
            </a:r>
            <a:r>
              <a:rPr dirty="0" err="1"/>
              <a:t>Evakattu</a:t>
            </a:r>
            <a:endParaRPr dirty="0"/>
          </a:p>
          <a:p>
            <a:pPr>
              <a:lnSpc>
                <a:spcPct val="30000"/>
              </a:lnSpc>
              <a:spcBef>
                <a:spcPts val="4300"/>
              </a:spcBef>
              <a:defRPr>
                <a:latin typeface="+mn-lt"/>
                <a:ea typeface="+mn-ea"/>
                <a:cs typeface="+mn-cs"/>
                <a:sym typeface="Times New Roman"/>
              </a:defRPr>
            </a:pPr>
            <a:r>
              <a:rPr dirty="0"/>
              <a:t>Pallavi Suma </a:t>
            </a:r>
            <a:r>
              <a:rPr dirty="0" err="1"/>
              <a:t>Kurmala</a:t>
            </a:r>
            <a:endParaRPr dirty="0"/>
          </a:p>
        </p:txBody>
      </p:sp>
    </p:spTree>
  </p:cSld>
  <p:clrMapOvr>
    <a:overrideClrMapping bg1="dk1" tx1="lt1" bg2="dk2" tx2="lt2" accent1="accent1" accent2="accent2" accent3="accent3" accent4="accent4" accent5="accent5" accent6="accent6" hlink="hlink" folHlink="folHlink"/>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D43E-BCE5-4126-1F63-A202ED9F3C2A}"/>
              </a:ext>
            </a:extLst>
          </p:cNvPr>
          <p:cNvSpPr>
            <a:spLocks noGrp="1"/>
          </p:cNvSpPr>
          <p:nvPr>
            <p:ph type="title"/>
          </p:nvPr>
        </p:nvSpPr>
        <p:spPr/>
        <p:txBody>
          <a:bodyPr/>
          <a:lstStyle/>
          <a:p>
            <a:r>
              <a:rPr lang="en-IN" dirty="0"/>
              <a:t>Introduction</a:t>
            </a:r>
          </a:p>
        </p:txBody>
      </p:sp>
      <p:sp>
        <p:nvSpPr>
          <p:cNvPr id="4" name="Text Placeholder 3">
            <a:extLst>
              <a:ext uri="{FF2B5EF4-FFF2-40B4-BE49-F238E27FC236}">
                <a16:creationId xmlns:a16="http://schemas.microsoft.com/office/drawing/2014/main" id="{879B9684-F16A-2CB3-53C3-CDF99B4915F6}"/>
              </a:ext>
            </a:extLst>
          </p:cNvPr>
          <p:cNvSpPr>
            <a:spLocks noGrp="1"/>
          </p:cNvSpPr>
          <p:nvPr>
            <p:ph type="body" idx="1"/>
          </p:nvPr>
        </p:nvSpPr>
        <p:spPr/>
        <p:txBody>
          <a:bodyPr>
            <a:normAutofit/>
          </a:bodyPr>
          <a:lstStyle/>
          <a:p>
            <a:r>
              <a:rPr lang="en-US" dirty="0">
                <a:effectLst/>
                <a:latin typeface="Times New Roman" panose="02020603050405020304" pitchFamily="18" charset="0"/>
                <a:ea typeface="Times New Roman" panose="02020603050405020304" pitchFamily="18" charset="0"/>
              </a:rPr>
              <a:t>Secure Sense is a system that combines a monitoring and analysis of employee behavior to alert of atypical behavior, or no sign based on the usage of machine learning algorithms. Through using data on employee's login/logout activities along with URL logins, this program looks to strengthen the security measures and productivity upgrades in the workplace.</a:t>
            </a:r>
          </a:p>
          <a:p>
            <a:r>
              <a:rPr lang="en-US" dirty="0">
                <a:effectLst/>
                <a:latin typeface="Times New Roman" panose="02020603050405020304" pitchFamily="18" charset="0"/>
                <a:ea typeface="Times New Roman" panose="02020603050405020304" pitchFamily="18" charset="0"/>
              </a:rPr>
              <a:t>The important preventive system of Secure Sense is based on ongoing monitoring of employee behavior. This method provides early detection of the suspicious activities and threats which in turn helps the organizations to strengthen </a:t>
            </a:r>
            <a:r>
              <a:rPr lang="en-US" dirty="0">
                <a:latin typeface="Times New Roman" panose="02020603050405020304" pitchFamily="18" charset="0"/>
              </a:rPr>
              <a:t>their defenses and get more preparation by gaining the knowledge beforehand.</a:t>
            </a:r>
          </a:p>
          <a:p>
            <a:r>
              <a:rPr lang="en-US" spc="-5" dirty="0">
                <a:latin typeface="Times New Roman" panose="02020603050405020304" pitchFamily="18" charset="0"/>
                <a:ea typeface="SimSun" panose="02010600030101010101" pitchFamily="2" charset="-122"/>
              </a:rPr>
              <a:t>A</a:t>
            </a:r>
            <a:r>
              <a:rPr lang="en-US" spc="-5" dirty="0">
                <a:effectLst/>
                <a:latin typeface="Times New Roman" panose="02020603050405020304" pitchFamily="18" charset="0"/>
                <a:ea typeface="SimSun" panose="02010600030101010101" pitchFamily="2" charset="-122"/>
              </a:rPr>
              <a:t>pplying the strengths of machine learning algorithms, Secure Sense gives an advanced yet simple tool which is used to upgrade the data protection protocols as well as the data information protection.</a:t>
            </a:r>
            <a:endParaRPr lang="en-IN" spc="-5" dirty="0">
              <a:effectLst/>
              <a:latin typeface="Times New Roman" panose="02020603050405020304" pitchFamily="18" charset="0"/>
              <a:ea typeface="SimSun" panose="02010600030101010101" pitchFamily="2" charset="-122"/>
            </a:endParaRPr>
          </a:p>
          <a:p>
            <a:endParaRPr lang="en-US" sz="3000" dirty="0">
              <a:latin typeface="Times New Roman" panose="02020603050405020304" pitchFamily="18" charset="0"/>
            </a:endParaRPr>
          </a:p>
        </p:txBody>
      </p:sp>
    </p:spTree>
    <p:extLst>
      <p:ext uri="{BB962C8B-B14F-4D97-AF65-F5344CB8AC3E}">
        <p14:creationId xmlns:p14="http://schemas.microsoft.com/office/powerpoint/2010/main" val="215282293"/>
      </p:ext>
    </p:extLst>
  </p:cSld>
  <p:clrMapOvr>
    <a:overrideClrMapping bg1="dk1" tx1="lt1" bg2="dk2" tx2="lt2" accent1="accent1" accent2="accent2" accent3="accent3" accent4="accent4" accent5="accent5" accent6="accent6" hlink="hlink" folHlink="folHlink"/>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6" name="Rounded Rectangle"/>
          <p:cNvSpPr/>
          <p:nvPr/>
        </p:nvSpPr>
        <p:spPr>
          <a:xfrm>
            <a:off x="324720" y="4524097"/>
            <a:ext cx="5594110" cy="6892435"/>
          </a:xfrm>
          <a:prstGeom prst="roundRect">
            <a:avLst>
              <a:gd name="adj" fmla="val 12778"/>
            </a:avLst>
          </a:prstGeom>
          <a:solidFill>
            <a:srgbClr val="E7FFF2"/>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177" name="Rounded Rectangle"/>
          <p:cNvSpPr/>
          <p:nvPr/>
        </p:nvSpPr>
        <p:spPr>
          <a:xfrm>
            <a:off x="6257434" y="4524097"/>
            <a:ext cx="5594110" cy="6892435"/>
          </a:xfrm>
          <a:prstGeom prst="roundRect">
            <a:avLst>
              <a:gd name="adj" fmla="val 12778"/>
            </a:avLst>
          </a:prstGeom>
          <a:solidFill>
            <a:srgbClr val="E7FFF2"/>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178" name="Rounded Rectangle"/>
          <p:cNvSpPr/>
          <p:nvPr/>
        </p:nvSpPr>
        <p:spPr>
          <a:xfrm>
            <a:off x="12192000" y="4524097"/>
            <a:ext cx="5594110" cy="6892435"/>
          </a:xfrm>
          <a:prstGeom prst="roundRect">
            <a:avLst>
              <a:gd name="adj" fmla="val 12778"/>
            </a:avLst>
          </a:prstGeom>
          <a:solidFill>
            <a:srgbClr val="E7FFF2"/>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179" name="Slide Subtitle"/>
          <p:cNvSpPr txBox="1">
            <a:spLocks noGrp="1"/>
          </p:cNvSpPr>
          <p:nvPr>
            <p:ph type="body" idx="21"/>
          </p:nvPr>
        </p:nvSpPr>
        <p:spPr>
          <a:xfrm>
            <a:off x="638710" y="2851174"/>
            <a:ext cx="21971001" cy="982322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algn="just">
              <a:defRPr sz="4000">
                <a:latin typeface="+mn-lt"/>
                <a:ea typeface="+mn-ea"/>
                <a:cs typeface="+mn-cs"/>
                <a:sym typeface="Times New Roman"/>
              </a:defRPr>
            </a:pPr>
            <a:r>
              <a:rPr lang="en-IN" dirty="0"/>
              <a:t>What problems are we trying to address?</a:t>
            </a:r>
            <a:endParaRPr dirty="0"/>
          </a:p>
        </p:txBody>
      </p:sp>
      <p:sp>
        <p:nvSpPr>
          <p:cNvPr id="180" name="Rounded Rectangle"/>
          <p:cNvSpPr/>
          <p:nvPr/>
        </p:nvSpPr>
        <p:spPr>
          <a:xfrm>
            <a:off x="18124713" y="4524097"/>
            <a:ext cx="5594111" cy="6892435"/>
          </a:xfrm>
          <a:prstGeom prst="roundRect">
            <a:avLst>
              <a:gd name="adj" fmla="val 12778"/>
            </a:avLst>
          </a:prstGeom>
          <a:solidFill>
            <a:srgbClr val="E7FFF2"/>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181" name="Problem Definition"/>
          <p:cNvSpPr txBox="1">
            <a:spLocks noGrp="1"/>
          </p:cNvSpPr>
          <p:nvPr>
            <p:ph type="title"/>
          </p:nvPr>
        </p:nvSpPr>
        <p:spPr>
          <a:xfrm>
            <a:off x="5993992" y="876830"/>
            <a:ext cx="22704861" cy="1689101"/>
          </a:xfrm>
          <a:prstGeom prst="rect">
            <a:avLst/>
          </a:prstGeom>
        </p:spPr>
        <p:txBody>
          <a:bodyPr/>
          <a:lstStyle/>
          <a:p>
            <a:r>
              <a:rPr dirty="0"/>
              <a:t>Problem Definition </a:t>
            </a:r>
          </a:p>
        </p:txBody>
      </p:sp>
      <p:sp>
        <p:nvSpPr>
          <p:cNvPr id="182" name="How can we improve upon traditional security measures, which are mainly reactive?"/>
          <p:cNvSpPr txBox="1"/>
          <p:nvPr/>
        </p:nvSpPr>
        <p:spPr>
          <a:xfrm>
            <a:off x="638710" y="6380135"/>
            <a:ext cx="4966130" cy="31803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825500">
              <a:spcBef>
                <a:spcPts val="0"/>
              </a:spcBef>
              <a:defRPr>
                <a:solidFill>
                  <a:srgbClr val="080808"/>
                </a:solidFill>
                <a:latin typeface="+mn-lt"/>
                <a:ea typeface="+mn-ea"/>
                <a:cs typeface="+mn-cs"/>
                <a:sym typeface="Times New Roman"/>
              </a:defRPr>
            </a:lvl1pPr>
          </a:lstStyle>
          <a:p>
            <a:pPr algn="ctr"/>
            <a:r>
              <a:rPr dirty="0"/>
              <a:t>How can we improve upon traditional security measures, which are mainly reactive?</a:t>
            </a:r>
          </a:p>
        </p:txBody>
      </p:sp>
      <p:sp>
        <p:nvSpPr>
          <p:cNvPr id="183" name="01"/>
          <p:cNvSpPr txBox="1"/>
          <p:nvPr/>
        </p:nvSpPr>
        <p:spPr>
          <a:xfrm>
            <a:off x="924803" y="5026642"/>
            <a:ext cx="622301" cy="676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F0F0F"/>
                </a:solidFill>
                <a:latin typeface="+mn-lt"/>
                <a:ea typeface="+mn-ea"/>
                <a:cs typeface="+mn-cs"/>
                <a:sym typeface="Times New Roman"/>
              </a:defRPr>
            </a:lvl1pPr>
          </a:lstStyle>
          <a:p>
            <a:r>
              <a:t>01</a:t>
            </a:r>
          </a:p>
        </p:txBody>
      </p:sp>
      <p:sp>
        <p:nvSpPr>
          <p:cNvPr id="184" name="02"/>
          <p:cNvSpPr txBox="1"/>
          <p:nvPr/>
        </p:nvSpPr>
        <p:spPr>
          <a:xfrm>
            <a:off x="6906614" y="5026642"/>
            <a:ext cx="622301" cy="676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F0F0F"/>
                </a:solidFill>
                <a:latin typeface="+mn-lt"/>
                <a:ea typeface="+mn-ea"/>
                <a:cs typeface="+mn-cs"/>
                <a:sym typeface="Times New Roman"/>
              </a:defRPr>
            </a:lvl1pPr>
          </a:lstStyle>
          <a:p>
            <a:r>
              <a:t>02</a:t>
            </a:r>
          </a:p>
        </p:txBody>
      </p:sp>
      <p:sp>
        <p:nvSpPr>
          <p:cNvPr id="185" name="03"/>
          <p:cNvSpPr txBox="1"/>
          <p:nvPr/>
        </p:nvSpPr>
        <p:spPr>
          <a:xfrm>
            <a:off x="12837625" y="5026642"/>
            <a:ext cx="622301" cy="6769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F0F0F"/>
                </a:solidFill>
                <a:latin typeface="+mn-lt"/>
                <a:ea typeface="+mn-ea"/>
                <a:cs typeface="+mn-cs"/>
                <a:sym typeface="Times New Roman"/>
              </a:defRPr>
            </a:lvl1pPr>
          </a:lstStyle>
          <a:p>
            <a:r>
              <a:t>03</a:t>
            </a:r>
          </a:p>
        </p:txBody>
      </p:sp>
      <p:sp>
        <p:nvSpPr>
          <p:cNvPr id="186" name="04"/>
          <p:cNvSpPr txBox="1"/>
          <p:nvPr/>
        </p:nvSpPr>
        <p:spPr>
          <a:xfrm>
            <a:off x="18794037" y="5026642"/>
            <a:ext cx="622301" cy="676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solidFill>
                  <a:srgbClr val="0F0F0F"/>
                </a:solidFill>
                <a:latin typeface="+mn-lt"/>
                <a:ea typeface="+mn-ea"/>
                <a:cs typeface="+mn-cs"/>
                <a:sym typeface="Times New Roman"/>
              </a:defRPr>
            </a:lvl1pPr>
          </a:lstStyle>
          <a:p>
            <a:r>
              <a:t>04</a:t>
            </a:r>
          </a:p>
        </p:txBody>
      </p:sp>
      <p:sp>
        <p:nvSpPr>
          <p:cNvPr id="187" name="By introducing proactive monitoring and automated detection, Secure Sense aims to swiftly identify and respond to suspicious activities in real-time."/>
          <p:cNvSpPr txBox="1"/>
          <p:nvPr/>
        </p:nvSpPr>
        <p:spPr>
          <a:xfrm>
            <a:off x="6594646" y="5811067"/>
            <a:ext cx="5126547" cy="50270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825500">
              <a:spcBef>
                <a:spcPts val="0"/>
              </a:spcBef>
              <a:defRPr>
                <a:solidFill>
                  <a:srgbClr val="080808"/>
                </a:solidFill>
                <a:latin typeface="+mn-lt"/>
                <a:ea typeface="+mn-ea"/>
                <a:cs typeface="+mn-cs"/>
                <a:sym typeface="Times New Roman"/>
              </a:defRPr>
            </a:lvl1pPr>
          </a:lstStyle>
          <a:p>
            <a:r>
              <a:rPr dirty="0"/>
              <a:t>By introducing proactive monitoring and automated detection, Secure Sense aims to swiftly identify and respond to suspicious activities in real-time.</a:t>
            </a:r>
          </a:p>
        </p:txBody>
      </p:sp>
      <p:sp>
        <p:nvSpPr>
          <p:cNvPr id="188" name="Text"/>
          <p:cNvSpPr txBox="1"/>
          <p:nvPr/>
        </p:nvSpPr>
        <p:spPr>
          <a:xfrm>
            <a:off x="12425781" y="8164273"/>
            <a:ext cx="5126547" cy="12738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just" defTabSz="825500">
              <a:spcBef>
                <a:spcPts val="0"/>
              </a:spcBef>
              <a:defRPr>
                <a:solidFill>
                  <a:srgbClr val="080808"/>
                </a:solidFill>
                <a:latin typeface="+mn-lt"/>
                <a:ea typeface="+mn-ea"/>
                <a:cs typeface="+mn-cs"/>
                <a:sym typeface="Times New Roman"/>
              </a:defRPr>
            </a:pPr>
            <a:endParaRPr/>
          </a:p>
        </p:txBody>
      </p:sp>
      <p:sp>
        <p:nvSpPr>
          <p:cNvPr id="189" name="This approach enhances cybersecurity resilience and mitigates potential risks effectively."/>
          <p:cNvSpPr txBox="1"/>
          <p:nvPr/>
        </p:nvSpPr>
        <p:spPr>
          <a:xfrm>
            <a:off x="12425781" y="6139604"/>
            <a:ext cx="4669944" cy="36614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825500">
              <a:spcBef>
                <a:spcPts val="0"/>
              </a:spcBef>
              <a:defRPr>
                <a:solidFill>
                  <a:srgbClr val="0E0E0E"/>
                </a:solidFill>
                <a:latin typeface="+mn-lt"/>
                <a:ea typeface="+mn-ea"/>
                <a:cs typeface="+mn-cs"/>
                <a:sym typeface="Times New Roman"/>
              </a:defRPr>
            </a:lvl1pPr>
          </a:lstStyle>
          <a:p>
            <a:r>
              <a:t>This approach enhances cybersecurity resilience and mitigates potential risks effectively.</a:t>
            </a:r>
          </a:p>
        </p:txBody>
      </p:sp>
      <p:sp>
        <p:nvSpPr>
          <p:cNvPr id="190" name="Secure Sense's real-time threat detection capabilities address the challenge of instability in security measures, offering immediate responses to suspicious incidents."/>
          <p:cNvSpPr txBox="1"/>
          <p:nvPr/>
        </p:nvSpPr>
        <p:spPr>
          <a:xfrm>
            <a:off x="18516416" y="6231483"/>
            <a:ext cx="4966131" cy="44114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825500">
              <a:spcBef>
                <a:spcPts val="0"/>
              </a:spcBef>
              <a:defRPr>
                <a:solidFill>
                  <a:srgbClr val="090909"/>
                </a:solidFill>
                <a:latin typeface="+mn-lt"/>
                <a:ea typeface="+mn-ea"/>
                <a:cs typeface="+mn-cs"/>
                <a:sym typeface="Times New Roman"/>
              </a:defRPr>
            </a:lvl1pPr>
          </a:lstStyle>
          <a:p>
            <a:r>
              <a:rPr dirty="0"/>
              <a:t>Secure Sense's threat detection capabilities address the challenge of instability in security measures, offering immediate responses to suspicious incidents.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92" name="DataSets"/>
          <p:cNvSpPr txBox="1">
            <a:spLocks noGrp="1"/>
          </p:cNvSpPr>
          <p:nvPr>
            <p:ph type="title"/>
          </p:nvPr>
        </p:nvSpPr>
        <p:spPr>
          <a:xfrm>
            <a:off x="7675724" y="-123298"/>
            <a:ext cx="21971001" cy="1689101"/>
          </a:xfrm>
          <a:prstGeom prst="rect">
            <a:avLst/>
          </a:prstGeom>
        </p:spPr>
        <p:txBody>
          <a:bodyPr/>
          <a:lstStyle/>
          <a:p>
            <a:r>
              <a:t>DataSets </a:t>
            </a:r>
          </a:p>
        </p:txBody>
      </p:sp>
      <p:sp>
        <p:nvSpPr>
          <p:cNvPr id="193" name="Slide bullet text"/>
          <p:cNvSpPr txBox="1">
            <a:spLocks noGrp="1"/>
          </p:cNvSpPr>
          <p:nvPr>
            <p:ph type="body" idx="1"/>
          </p:nvPr>
        </p:nvSpPr>
        <p:spPr>
          <a:xfrm>
            <a:off x="1206500" y="3132840"/>
            <a:ext cx="21971000" cy="8256011"/>
          </a:xfrm>
          <a:prstGeom prst="rect">
            <a:avLst/>
          </a:prstGeom>
        </p:spPr>
        <p:txBody>
          <a:bodyPr/>
          <a:lstStyle/>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3900">
                <a:latin typeface="Helvetica"/>
                <a:ea typeface="Helvetica"/>
                <a:cs typeface="Helvetica"/>
                <a:sym typeface="Helvetica"/>
              </a:defRPr>
            </a:pPr>
            <a:endParaRPr/>
          </a:p>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3900">
                <a:latin typeface="Helvetica"/>
                <a:ea typeface="Helvetica"/>
                <a:cs typeface="Helvetica"/>
                <a:sym typeface="Helvetica"/>
              </a:defRPr>
            </a:pPr>
            <a:endParaRPr/>
          </a:p>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3900">
                <a:latin typeface="Helvetica"/>
                <a:ea typeface="Helvetica"/>
                <a:cs typeface="Helvetica"/>
                <a:sym typeface="Helvetica"/>
              </a:defRPr>
            </a:pPr>
            <a:endParaRPr/>
          </a:p>
        </p:txBody>
      </p:sp>
      <p:sp>
        <p:nvSpPr>
          <p:cNvPr id="194" name="Text"/>
          <p:cNvSpPr txBox="1"/>
          <p:nvPr/>
        </p:nvSpPr>
        <p:spPr>
          <a:xfrm>
            <a:off x="1444009" y="4737800"/>
            <a:ext cx="7760543" cy="18707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a:solidFill>
                  <a:srgbClr val="000000"/>
                </a:solidFill>
                <a:latin typeface="+mn-lt"/>
                <a:ea typeface="+mn-ea"/>
                <a:cs typeface="+mn-cs"/>
                <a:sym typeface="Times New Roman"/>
              </a:defRPr>
            </a:pPr>
            <a:endParaRPr/>
          </a:p>
        </p:txBody>
      </p:sp>
      <p:grpSp>
        <p:nvGrpSpPr>
          <p:cNvPr id="197" name="Screenshot 2024-04-09 at 1.59.19 AM.png"/>
          <p:cNvGrpSpPr/>
          <p:nvPr/>
        </p:nvGrpSpPr>
        <p:grpSpPr>
          <a:xfrm>
            <a:off x="690315" y="7666634"/>
            <a:ext cx="9267932" cy="4468565"/>
            <a:chOff x="0" y="0"/>
            <a:chExt cx="9267930" cy="4468564"/>
          </a:xfrm>
        </p:grpSpPr>
        <p:pic>
          <p:nvPicPr>
            <p:cNvPr id="196" name="Screenshot 2024-04-09 at 1.59.19 AM.png" descr="Screenshot 2024-04-09 at 1.59.19 AM.png"/>
            <p:cNvPicPr>
              <a:picLocks noChangeAspect="1"/>
            </p:cNvPicPr>
            <p:nvPr/>
          </p:nvPicPr>
          <p:blipFill>
            <a:blip r:embed="rId3"/>
            <a:srcRect l="3156" t="27820" r="61882" b="46109"/>
            <a:stretch>
              <a:fillRect/>
            </a:stretch>
          </p:blipFill>
          <p:spPr>
            <a:xfrm>
              <a:off x="139699" y="139699"/>
              <a:ext cx="8988532" cy="4189166"/>
            </a:xfrm>
            <a:prstGeom prst="rect">
              <a:avLst/>
            </a:prstGeom>
            <a:ln>
              <a:noFill/>
            </a:ln>
            <a:effectLst/>
          </p:spPr>
        </p:pic>
        <p:pic>
          <p:nvPicPr>
            <p:cNvPr id="195" name="Screenshot 2024-04-09 at 1.59.19 AM.png" descr="Screenshot 2024-04-09 at 1.59.19 AM.png"/>
            <p:cNvPicPr>
              <a:picLocks/>
            </p:cNvPicPr>
            <p:nvPr/>
          </p:nvPicPr>
          <p:blipFill>
            <a:blip r:embed="rId4"/>
            <a:stretch>
              <a:fillRect/>
            </a:stretch>
          </p:blipFill>
          <p:spPr>
            <a:xfrm>
              <a:off x="0" y="-1"/>
              <a:ext cx="9267931" cy="4468566"/>
            </a:xfrm>
            <a:prstGeom prst="rect">
              <a:avLst/>
            </a:prstGeom>
            <a:effectLst/>
          </p:spPr>
        </p:pic>
      </p:grpSp>
      <p:sp>
        <p:nvSpPr>
          <p:cNvPr id="198" name="Rounded Rectangle"/>
          <p:cNvSpPr/>
          <p:nvPr/>
        </p:nvSpPr>
        <p:spPr>
          <a:xfrm>
            <a:off x="1367379" y="2800201"/>
            <a:ext cx="6338245" cy="4127316"/>
          </a:xfrm>
          <a:prstGeom prst="roundRect">
            <a:avLst>
              <a:gd name="adj" fmla="val 12866"/>
            </a:avLst>
          </a:prstGeom>
          <a:solidFill>
            <a:schemeClr val="accent2">
              <a:hueOff val="-168224"/>
              <a:satOff val="18883"/>
              <a:lumOff val="-31844"/>
            </a:schemeClr>
          </a:solidFill>
          <a:ln w="12700">
            <a:miter lim="400000"/>
          </a:ln>
        </p:spPr>
        <p:txBody>
          <a:bodyPr lIns="50800" tIns="50800" rIns="50800" bIns="50800" anchor="ctr"/>
          <a:lstStyle/>
          <a:p>
            <a:pPr algn="ctr" defTabSz="825500">
              <a:spcBef>
                <a:spcPts val="0"/>
              </a:spcBef>
              <a:defRPr sz="3200">
                <a:solidFill>
                  <a:schemeClr val="accent3">
                    <a:hueOff val="135849"/>
                    <a:satOff val="1851"/>
                    <a:lumOff val="-17959"/>
                  </a:schemeClr>
                </a:solidFill>
              </a:defRPr>
            </a:pPr>
            <a:endParaRPr/>
          </a:p>
        </p:txBody>
      </p:sp>
      <p:sp>
        <p:nvSpPr>
          <p:cNvPr id="199" name="Logon.csv"/>
          <p:cNvSpPr txBox="1"/>
          <p:nvPr/>
        </p:nvSpPr>
        <p:spPr>
          <a:xfrm>
            <a:off x="2042807" y="3200131"/>
            <a:ext cx="2937180" cy="8350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ctr" defTabSz="825500">
              <a:spcBef>
                <a:spcPts val="0"/>
              </a:spcBef>
              <a:defRPr sz="5300">
                <a:latin typeface="+mn-lt"/>
                <a:ea typeface="+mn-ea"/>
                <a:cs typeface="+mn-cs"/>
                <a:sym typeface="Times New Roman"/>
              </a:defRPr>
            </a:lvl1pPr>
          </a:lstStyle>
          <a:p>
            <a:r>
              <a:t>Logon.csv</a:t>
            </a:r>
          </a:p>
        </p:txBody>
      </p:sp>
      <p:sp>
        <p:nvSpPr>
          <p:cNvPr id="200" name="Fields: id, date, user, pc, activity(Logon/Logoff)"/>
          <p:cNvSpPr txBox="1"/>
          <p:nvPr/>
        </p:nvSpPr>
        <p:spPr>
          <a:xfrm>
            <a:off x="1725547" y="4591139"/>
            <a:ext cx="4780394" cy="30645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a:latin typeface="+mn-lt"/>
                <a:ea typeface="+mn-ea"/>
                <a:cs typeface="+mn-cs"/>
                <a:sym typeface="Times New Roman"/>
              </a:defRPr>
            </a:lvl1pPr>
          </a:lstStyle>
          <a:p>
            <a:r>
              <a:t>Fields: id, date, user, pc, activity(Logon/Logoff)</a:t>
            </a:r>
          </a:p>
        </p:txBody>
      </p:sp>
      <p:graphicFrame>
        <p:nvGraphicFramePr>
          <p:cNvPr id="201" name="Interactive Column Chart"/>
          <p:cNvGraphicFramePr/>
          <p:nvPr/>
        </p:nvGraphicFramePr>
        <p:xfrm>
          <a:off x="10767989" y="1808162"/>
          <a:ext cx="11817092" cy="1024940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201"/>
                                        </p:tgtEl>
                                        <p:attrNameLst>
                                          <p:attrName>style.visibility</p:attrName>
                                        </p:attrNameLst>
                                      </p:cBhvr>
                                      <p:to>
                                        <p:strVal val="visible"/>
                                      </p:to>
                                    </p:set>
                                    <p:animEffect transition="in" filter="dissolve">
                                      <p:cBhvr>
                                        <p:cTn id="7"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1"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3" name="DataSets"/>
          <p:cNvSpPr txBox="1">
            <a:spLocks noGrp="1"/>
          </p:cNvSpPr>
          <p:nvPr>
            <p:ph type="title"/>
          </p:nvPr>
        </p:nvSpPr>
        <p:spPr>
          <a:xfrm>
            <a:off x="8434021" y="-241782"/>
            <a:ext cx="21971001" cy="1689101"/>
          </a:xfrm>
          <a:prstGeom prst="rect">
            <a:avLst/>
          </a:prstGeom>
        </p:spPr>
        <p:txBody>
          <a:bodyPr/>
          <a:lstStyle/>
          <a:p>
            <a:r>
              <a:t>DataSets</a:t>
            </a:r>
          </a:p>
        </p:txBody>
      </p:sp>
      <p:sp>
        <p:nvSpPr>
          <p:cNvPr id="204" name="Rounded Rectangle"/>
          <p:cNvSpPr/>
          <p:nvPr/>
        </p:nvSpPr>
        <p:spPr>
          <a:xfrm>
            <a:off x="1225198" y="2184085"/>
            <a:ext cx="6533096" cy="4096121"/>
          </a:xfrm>
          <a:prstGeom prst="roundRect">
            <a:avLst>
              <a:gd name="adj" fmla="val 12964"/>
            </a:avLst>
          </a:prstGeom>
          <a:solidFill>
            <a:schemeClr val="accent2">
              <a:hueOff val="-168224"/>
              <a:satOff val="18883"/>
              <a:lumOff val="-31844"/>
            </a:schemeClr>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205" name="http.csv"/>
          <p:cNvSpPr txBox="1"/>
          <p:nvPr/>
        </p:nvSpPr>
        <p:spPr>
          <a:xfrm>
            <a:off x="1521145" y="2642039"/>
            <a:ext cx="2529168" cy="8350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defTabSz="825500">
              <a:spcBef>
                <a:spcPts val="0"/>
              </a:spcBef>
              <a:defRPr sz="5300">
                <a:latin typeface="+mn-lt"/>
                <a:ea typeface="+mn-ea"/>
                <a:cs typeface="+mn-cs"/>
                <a:sym typeface="Times New Roman"/>
              </a:defRPr>
            </a:lvl1pPr>
          </a:lstStyle>
          <a:p>
            <a:r>
              <a:t>http.csv</a:t>
            </a:r>
          </a:p>
        </p:txBody>
      </p:sp>
      <p:sp>
        <p:nvSpPr>
          <p:cNvPr id="206" name="Fields: id, date, user, pc, url, content"/>
          <p:cNvSpPr txBox="1"/>
          <p:nvPr/>
        </p:nvSpPr>
        <p:spPr>
          <a:xfrm>
            <a:off x="1574937" y="4124186"/>
            <a:ext cx="5833618" cy="1323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300">
                <a:latin typeface="+mn-lt"/>
                <a:ea typeface="+mn-ea"/>
                <a:cs typeface="+mn-cs"/>
                <a:sym typeface="Times New Roman"/>
              </a:defRPr>
            </a:lvl1pPr>
          </a:lstStyle>
          <a:p>
            <a:r>
              <a:t>Fields: id, date, user, pc, url, content</a:t>
            </a:r>
          </a:p>
        </p:txBody>
      </p:sp>
      <p:grpSp>
        <p:nvGrpSpPr>
          <p:cNvPr id="209" name="WhatsApp Image 2024-04-09 at 03.18.03.jpeg"/>
          <p:cNvGrpSpPr/>
          <p:nvPr/>
        </p:nvGrpSpPr>
        <p:grpSpPr>
          <a:xfrm>
            <a:off x="401002" y="8357026"/>
            <a:ext cx="13662159" cy="2722790"/>
            <a:chOff x="0" y="0"/>
            <a:chExt cx="13662158" cy="2722789"/>
          </a:xfrm>
        </p:grpSpPr>
        <p:pic>
          <p:nvPicPr>
            <p:cNvPr id="208" name="WhatsApp Image 2024-04-09 at 03.18.03.jpeg" descr="WhatsApp Image 2024-04-09 at 03.18.03.jpeg"/>
            <p:cNvPicPr>
              <a:picLocks noChangeAspect="1"/>
            </p:cNvPicPr>
            <p:nvPr/>
          </p:nvPicPr>
          <p:blipFill>
            <a:blip r:embed="rId3"/>
            <a:srcRect r="34765"/>
            <a:stretch>
              <a:fillRect/>
            </a:stretch>
          </p:blipFill>
          <p:spPr>
            <a:xfrm>
              <a:off x="127000" y="88900"/>
              <a:ext cx="13408159" cy="2392590"/>
            </a:xfrm>
            <a:prstGeom prst="rect">
              <a:avLst/>
            </a:prstGeom>
            <a:ln>
              <a:noFill/>
            </a:ln>
            <a:effectLst/>
          </p:spPr>
        </p:pic>
        <p:pic>
          <p:nvPicPr>
            <p:cNvPr id="207" name="WhatsApp Image 2024-04-09 at 03.18.03.jpeg" descr="WhatsApp Image 2024-04-09 at 03.18.03.jpeg"/>
            <p:cNvPicPr>
              <a:picLocks/>
            </p:cNvPicPr>
            <p:nvPr/>
          </p:nvPicPr>
          <p:blipFill>
            <a:blip r:embed="rId4"/>
            <a:stretch>
              <a:fillRect/>
            </a:stretch>
          </p:blipFill>
          <p:spPr>
            <a:xfrm>
              <a:off x="-1" y="-1"/>
              <a:ext cx="13662160" cy="2722791"/>
            </a:xfrm>
            <a:prstGeom prst="rect">
              <a:avLst/>
            </a:prstGeom>
            <a:effectLst/>
          </p:spPr>
        </p:pic>
      </p:grpSp>
      <p:graphicFrame>
        <p:nvGraphicFramePr>
          <p:cNvPr id="210" name="3D Column Chart"/>
          <p:cNvGraphicFramePr/>
          <p:nvPr/>
        </p:nvGraphicFramePr>
        <p:xfrm>
          <a:off x="11616727" y="1599882"/>
          <a:ext cx="11722173" cy="10990172"/>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12" name="DataSets"/>
          <p:cNvSpPr txBox="1">
            <a:spLocks noGrp="1"/>
          </p:cNvSpPr>
          <p:nvPr>
            <p:ph type="title"/>
          </p:nvPr>
        </p:nvSpPr>
        <p:spPr>
          <a:xfrm>
            <a:off x="9168622" y="313569"/>
            <a:ext cx="21971001" cy="1689101"/>
          </a:xfrm>
          <a:prstGeom prst="rect">
            <a:avLst/>
          </a:prstGeom>
        </p:spPr>
        <p:txBody>
          <a:bodyPr/>
          <a:lstStyle/>
          <a:p>
            <a:r>
              <a:t>DataSets</a:t>
            </a:r>
          </a:p>
        </p:txBody>
      </p:sp>
      <p:sp>
        <p:nvSpPr>
          <p:cNvPr id="213" name="Rounded Rectangle"/>
          <p:cNvSpPr/>
          <p:nvPr/>
        </p:nvSpPr>
        <p:spPr>
          <a:xfrm>
            <a:off x="9252949" y="8412147"/>
            <a:ext cx="6825974" cy="4926158"/>
          </a:xfrm>
          <a:prstGeom prst="roundRect">
            <a:avLst>
              <a:gd name="adj" fmla="val 10779"/>
            </a:avLst>
          </a:prstGeom>
          <a:solidFill>
            <a:schemeClr val="accent2">
              <a:hueOff val="-168224"/>
              <a:satOff val="18883"/>
              <a:lumOff val="-31844"/>
            </a:schemeClr>
          </a:solidFill>
          <a:ln w="12700">
            <a:miter lim="400000"/>
          </a:ln>
          <a:effectLst>
            <a:outerShdw blurRad="381000" dist="114300" rotWithShape="0">
              <a:srgbClr val="000000">
                <a:alpha val="75000"/>
              </a:srgbClr>
            </a:outerShdw>
          </a:effectLst>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sp>
        <p:nvSpPr>
          <p:cNvPr id="214" name="EmployeeDetails.csv"/>
          <p:cNvSpPr txBox="1"/>
          <p:nvPr/>
        </p:nvSpPr>
        <p:spPr>
          <a:xfrm>
            <a:off x="9452983" y="8670142"/>
            <a:ext cx="21971001" cy="1003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825500">
              <a:spcBef>
                <a:spcPts val="0"/>
              </a:spcBef>
              <a:defRPr sz="5400">
                <a:latin typeface="+mn-lt"/>
                <a:ea typeface="+mn-ea"/>
                <a:cs typeface="+mn-cs"/>
                <a:sym typeface="Times New Roman"/>
              </a:defRPr>
            </a:lvl1pPr>
          </a:lstStyle>
          <a:p>
            <a:r>
              <a:t>EmployeeDetails.csv</a:t>
            </a:r>
          </a:p>
        </p:txBody>
      </p:sp>
      <p:sp>
        <p:nvSpPr>
          <p:cNvPr id="215" name="Fields: employee_name , user_id, email, role,business_unit, department ,team, supervisor"/>
          <p:cNvSpPr txBox="1"/>
          <p:nvPr/>
        </p:nvSpPr>
        <p:spPr>
          <a:xfrm>
            <a:off x="9405025" y="10141900"/>
            <a:ext cx="6521822" cy="2567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300">
                <a:latin typeface="+mn-lt"/>
                <a:ea typeface="+mn-ea"/>
                <a:cs typeface="+mn-cs"/>
                <a:sym typeface="Times New Roman"/>
              </a:defRPr>
            </a:lvl1pPr>
          </a:lstStyle>
          <a:p>
            <a:r>
              <a:t>Fields: employee_name , user_id, email, role,business_unit, department ,team, supervisor</a:t>
            </a:r>
          </a:p>
        </p:txBody>
      </p:sp>
      <p:pic>
        <p:nvPicPr>
          <p:cNvPr id="216" name="Screenshot 2024-04-09 at 3.02.08 AM.png" descr="Screenshot 2024-04-09 at 3.02.08 AM.png"/>
          <p:cNvPicPr>
            <a:picLocks/>
          </p:cNvPicPr>
          <p:nvPr/>
        </p:nvPicPr>
        <p:blipFill>
          <a:blip r:embed="rId3"/>
          <a:stretch>
            <a:fillRect/>
          </a:stretch>
        </p:blipFill>
        <p:spPr>
          <a:xfrm>
            <a:off x="1449781" y="2213132"/>
            <a:ext cx="21354979" cy="6023482"/>
          </a:xfrm>
          <a:prstGeom prst="rect">
            <a:avLst/>
          </a:prstGeom>
          <a:effectLst>
            <a:outerShdw blurRad="381000" dist="114300" rotWithShape="0">
              <a:srgbClr val="000000">
                <a:alpha val="75000"/>
              </a:srgbClr>
            </a:outerShdw>
          </a:effec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18" name="Data Analysis"/>
          <p:cNvSpPr txBox="1">
            <a:spLocks noGrp="1"/>
          </p:cNvSpPr>
          <p:nvPr>
            <p:ph type="title"/>
          </p:nvPr>
        </p:nvSpPr>
        <p:spPr>
          <a:xfrm>
            <a:off x="7604634" y="234706"/>
            <a:ext cx="21971001" cy="1689101"/>
          </a:xfrm>
          <a:prstGeom prst="rect">
            <a:avLst/>
          </a:prstGeom>
        </p:spPr>
        <p:txBody>
          <a:bodyPr/>
          <a:lstStyle/>
          <a:p>
            <a:r>
              <a:t>Data Analysis</a:t>
            </a:r>
          </a:p>
        </p:txBody>
      </p:sp>
      <p:sp>
        <p:nvSpPr>
          <p:cNvPr id="219" name="For Logon.csv dataset upon inspection, missing values were identified in the activity column, with some entries missing logon times and others missing logoff times.…"/>
          <p:cNvSpPr txBox="1"/>
          <p:nvPr/>
        </p:nvSpPr>
        <p:spPr>
          <a:xfrm>
            <a:off x="512289" y="3393417"/>
            <a:ext cx="11161793" cy="78397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a:latin typeface="+mn-lt"/>
                <a:ea typeface="+mn-ea"/>
                <a:cs typeface="+mn-cs"/>
                <a:sym typeface="Times New Roman"/>
              </a:defRPr>
            </a:pPr>
            <a:r>
              <a:t>For Logon.csv dataset upon inspection, missing values were identified in the activity column, with some entries missing logon times and others missing logoff times.</a:t>
            </a:r>
          </a:p>
          <a:p>
            <a:pPr>
              <a:defRPr>
                <a:latin typeface="+mn-lt"/>
                <a:ea typeface="+mn-ea"/>
                <a:cs typeface="+mn-cs"/>
                <a:sym typeface="Times New Roman"/>
              </a:defRPr>
            </a:pPr>
            <a:r>
              <a:t>For entries with both logon and logoff times available, the number of productive hours per user was calculated.</a:t>
            </a:r>
          </a:p>
          <a:p>
            <a:pPr>
              <a:defRPr>
                <a:latin typeface="+mn-lt"/>
                <a:ea typeface="+mn-ea"/>
                <a:cs typeface="+mn-cs"/>
                <a:sym typeface="Times New Roman"/>
              </a:defRPr>
            </a:pPr>
            <a:r>
              <a:t>To address the missing values, collaborative filtering was considered. This involves predicting the logoff/logon time based on similar user logoff/logon patterns.</a:t>
            </a:r>
          </a:p>
        </p:txBody>
      </p:sp>
      <p:pic>
        <p:nvPicPr>
          <p:cNvPr id="220" name="pasted-movie.png" descr="pasted-movie.png"/>
          <p:cNvPicPr>
            <a:picLocks noChangeAspect="1"/>
          </p:cNvPicPr>
          <p:nvPr/>
        </p:nvPicPr>
        <p:blipFill>
          <a:blip r:embed="rId3"/>
          <a:stretch>
            <a:fillRect/>
          </a:stretch>
        </p:blipFill>
        <p:spPr>
          <a:xfrm>
            <a:off x="12067958" y="2295322"/>
            <a:ext cx="10910190" cy="5366394"/>
          </a:xfrm>
          <a:prstGeom prst="rect">
            <a:avLst/>
          </a:prstGeom>
          <a:ln w="12700">
            <a:miter lim="400000"/>
          </a:ln>
          <a:effectLst>
            <a:outerShdw blurRad="50800" dist="63500" dir="2700000" rotWithShape="0">
              <a:srgbClr val="000000">
                <a:alpha val="50000"/>
              </a:srgbClr>
            </a:outerShdw>
          </a:effectLst>
        </p:spPr>
      </p:pic>
      <p:pic>
        <p:nvPicPr>
          <p:cNvPr id="221" name="pasted-movie.png" descr="pasted-movie.png"/>
          <p:cNvPicPr>
            <a:picLocks noChangeAspect="1"/>
          </p:cNvPicPr>
          <p:nvPr/>
        </p:nvPicPr>
        <p:blipFill>
          <a:blip r:embed="rId4"/>
          <a:stretch>
            <a:fillRect/>
          </a:stretch>
        </p:blipFill>
        <p:spPr>
          <a:xfrm>
            <a:off x="12067958" y="8033231"/>
            <a:ext cx="10910190" cy="5343767"/>
          </a:xfrm>
          <a:prstGeom prst="rect">
            <a:avLst/>
          </a:prstGeom>
          <a:ln w="12700">
            <a:miter lim="400000"/>
          </a:ln>
          <a:effectLst>
            <a:outerShdw blurRad="355600" rotWithShape="0">
              <a:srgbClr val="000000">
                <a:alpha val="75000"/>
              </a:srgbClr>
            </a:outerShdw>
          </a:effec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23" name="Data Analysis"/>
          <p:cNvSpPr txBox="1">
            <a:spLocks noGrp="1"/>
          </p:cNvSpPr>
          <p:nvPr>
            <p:ph type="title"/>
          </p:nvPr>
        </p:nvSpPr>
        <p:spPr>
          <a:xfrm>
            <a:off x="6419794" y="-99601"/>
            <a:ext cx="21971001" cy="1689101"/>
          </a:xfrm>
          <a:prstGeom prst="rect">
            <a:avLst/>
          </a:prstGeom>
        </p:spPr>
        <p:txBody>
          <a:bodyPr/>
          <a:lstStyle/>
          <a:p>
            <a:r>
              <a:t>Data Analysis</a:t>
            </a:r>
          </a:p>
        </p:txBody>
      </p:sp>
      <p:sp>
        <p:nvSpPr>
          <p:cNvPr id="224" name="Employed_Combined_Dataset.csv"/>
          <p:cNvSpPr txBox="1">
            <a:spLocks noGrp="1"/>
          </p:cNvSpPr>
          <p:nvPr>
            <p:ph type="body" idx="21"/>
          </p:nvPr>
        </p:nvSpPr>
        <p:spPr>
          <a:xfrm>
            <a:off x="661473" y="2320652"/>
            <a:ext cx="21971001" cy="10033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b="1">
                <a:latin typeface="+mn-lt"/>
                <a:ea typeface="+mn-ea"/>
                <a:cs typeface="+mn-cs"/>
                <a:sym typeface="Times New Roman"/>
              </a:defRPr>
            </a:lvl1pPr>
          </a:lstStyle>
          <a:p>
            <a:r>
              <a:t>Employed_Combined_Dataset.csv</a:t>
            </a:r>
          </a:p>
        </p:txBody>
      </p:sp>
      <p:sp>
        <p:nvSpPr>
          <p:cNvPr id="225" name="The dataset comprises employee details including name, email, role, supervisor, business unit, etc.…"/>
          <p:cNvSpPr txBox="1">
            <a:spLocks noGrp="1"/>
          </p:cNvSpPr>
          <p:nvPr>
            <p:ph type="body" sz="half" idx="1"/>
          </p:nvPr>
        </p:nvSpPr>
        <p:spPr>
          <a:xfrm>
            <a:off x="377112" y="3581169"/>
            <a:ext cx="12028993" cy="8256011"/>
          </a:xfrm>
          <a:prstGeom prst="rect">
            <a:avLst/>
          </a:prstGeom>
        </p:spPr>
        <p:txBody>
          <a:bodyPr/>
          <a:lstStyle/>
          <a:p>
            <a:pPr>
              <a:defRPr>
                <a:latin typeface="+mn-lt"/>
                <a:ea typeface="+mn-ea"/>
                <a:cs typeface="+mn-cs"/>
                <a:sym typeface="Times New Roman"/>
              </a:defRPr>
            </a:pPr>
            <a:r>
              <a:t>The dataset comprises employee details including name, email, role, supervisor, business unit, etc.</a:t>
            </a:r>
          </a:p>
          <a:p>
            <a:pPr>
              <a:defRPr>
                <a:latin typeface="+mn-lt"/>
                <a:ea typeface="+mn-ea"/>
                <a:cs typeface="+mn-cs"/>
                <a:sym typeface="Times New Roman"/>
              </a:defRPr>
            </a:pPr>
            <a:r>
              <a:t>To streamline processing, all 12 employee detail files were concatenated into one consolidated file.</a:t>
            </a:r>
          </a:p>
          <a:p>
            <a:pPr>
              <a:defRPr>
                <a:latin typeface="+mn-lt"/>
                <a:ea typeface="+mn-ea"/>
                <a:cs typeface="+mn-cs"/>
                <a:sym typeface="Times New Roman"/>
              </a:defRPr>
            </a:pPr>
            <a:r>
              <a:t>Additionally, outcomes from device info and HTTP info files were incorporated.</a:t>
            </a:r>
          </a:p>
          <a:p>
            <a:pPr>
              <a:defRPr>
                <a:latin typeface="+mn-lt"/>
                <a:ea typeface="+mn-ea"/>
                <a:cs typeface="+mn-cs"/>
                <a:sym typeface="Times New Roman"/>
              </a:defRPr>
            </a:pPr>
            <a:r>
              <a:t>These three tables were mapped by user to provide a comprehensive understanding of user behavior and interactions.</a:t>
            </a:r>
          </a:p>
        </p:txBody>
      </p:sp>
      <p:pic>
        <p:nvPicPr>
          <p:cNvPr id="226" name="pasted-movie.png" descr="pasted-movie.png"/>
          <p:cNvPicPr>
            <a:picLocks noChangeAspect="1"/>
          </p:cNvPicPr>
          <p:nvPr/>
        </p:nvPicPr>
        <p:blipFill>
          <a:blip r:embed="rId3"/>
          <a:stretch>
            <a:fillRect/>
          </a:stretch>
        </p:blipFill>
        <p:spPr>
          <a:xfrm>
            <a:off x="13037873" y="7498757"/>
            <a:ext cx="10798430" cy="5399216"/>
          </a:xfrm>
          <a:prstGeom prst="rect">
            <a:avLst/>
          </a:prstGeom>
          <a:ln w="12700">
            <a:miter lim="400000"/>
          </a:ln>
        </p:spPr>
      </p:pic>
      <p:pic>
        <p:nvPicPr>
          <p:cNvPr id="227" name="pasted-movie.png" descr="pasted-movie.png"/>
          <p:cNvPicPr>
            <a:picLocks noChangeAspect="1"/>
          </p:cNvPicPr>
          <p:nvPr/>
        </p:nvPicPr>
        <p:blipFill>
          <a:blip r:embed="rId4"/>
          <a:stretch>
            <a:fillRect/>
          </a:stretch>
        </p:blipFill>
        <p:spPr>
          <a:xfrm>
            <a:off x="13049403" y="1966661"/>
            <a:ext cx="10754534" cy="5399215"/>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29" name="Flow Chart"/>
          <p:cNvSpPr txBox="1">
            <a:spLocks noGrp="1"/>
          </p:cNvSpPr>
          <p:nvPr>
            <p:ph type="title"/>
          </p:nvPr>
        </p:nvSpPr>
        <p:spPr>
          <a:xfrm>
            <a:off x="8173357" y="326941"/>
            <a:ext cx="21971001" cy="1689101"/>
          </a:xfrm>
          <a:prstGeom prst="rect">
            <a:avLst/>
          </a:prstGeom>
        </p:spPr>
        <p:txBody>
          <a:bodyPr/>
          <a:lstStyle/>
          <a:p>
            <a:r>
              <a:t>Flow Chart</a:t>
            </a:r>
          </a:p>
        </p:txBody>
      </p:sp>
      <p:sp>
        <p:nvSpPr>
          <p:cNvPr id="230" name="Rounded Rectangle"/>
          <p:cNvSpPr/>
          <p:nvPr/>
        </p:nvSpPr>
        <p:spPr>
          <a:xfrm>
            <a:off x="4240430" y="2490612"/>
            <a:ext cx="15903140" cy="10573866"/>
          </a:xfrm>
          <a:prstGeom prst="roundRect">
            <a:avLst>
              <a:gd name="adj" fmla="val 14410"/>
            </a:avLst>
          </a:prstGeom>
          <a:solidFill>
            <a:srgbClr val="FFFFFF"/>
          </a:solidFill>
          <a:ln w="12700">
            <a:miter lim="400000"/>
          </a:ln>
        </p:spPr>
        <p:txBody>
          <a:bodyPr lIns="50800" tIns="50800" rIns="50800" bIns="50800" anchor="ctr"/>
          <a:lstStyle/>
          <a:p>
            <a:pPr algn="ctr" defTabSz="825500">
              <a:spcBef>
                <a:spcPts val="0"/>
              </a:spcBef>
              <a:defRPr sz="3200">
                <a:solidFill>
                  <a:schemeClr val="accent1">
                    <a:satOff val="5092"/>
                    <a:lumOff val="-28652"/>
                  </a:schemeClr>
                </a:solidFill>
              </a:defRPr>
            </a:pPr>
            <a:endParaRPr/>
          </a:p>
        </p:txBody>
      </p:sp>
      <p:pic>
        <p:nvPicPr>
          <p:cNvPr id="231" name="new.drawio (1).png" descr="new.drawio (1).png"/>
          <p:cNvPicPr>
            <a:picLocks noChangeAspect="1"/>
          </p:cNvPicPr>
          <p:nvPr/>
        </p:nvPicPr>
        <p:blipFill>
          <a:blip r:embed="rId3"/>
          <a:stretch>
            <a:fillRect/>
          </a:stretch>
        </p:blipFill>
        <p:spPr>
          <a:xfrm>
            <a:off x="5805566" y="3363778"/>
            <a:ext cx="12074139" cy="8306204"/>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33" name="Methodology"/>
          <p:cNvSpPr txBox="1">
            <a:spLocks noGrp="1"/>
          </p:cNvSpPr>
          <p:nvPr>
            <p:ph type="title"/>
          </p:nvPr>
        </p:nvSpPr>
        <p:spPr>
          <a:xfrm>
            <a:off x="7367666" y="183272"/>
            <a:ext cx="21971001" cy="1689101"/>
          </a:xfrm>
          <a:prstGeom prst="rect">
            <a:avLst/>
          </a:prstGeom>
        </p:spPr>
        <p:txBody>
          <a:bodyPr/>
          <a:lstStyle/>
          <a:p>
            <a:r>
              <a:t>Methodology </a:t>
            </a:r>
          </a:p>
        </p:txBody>
      </p:sp>
      <p:sp>
        <p:nvSpPr>
          <p:cNvPr id="234" name="URL Clustering…"/>
          <p:cNvSpPr txBox="1">
            <a:spLocks noGrp="1"/>
          </p:cNvSpPr>
          <p:nvPr>
            <p:ph type="body" idx="1"/>
          </p:nvPr>
        </p:nvSpPr>
        <p:spPr>
          <a:xfrm>
            <a:off x="1134021" y="3004712"/>
            <a:ext cx="22115958" cy="8368942"/>
          </a:xfrm>
          <a:prstGeom prst="rect">
            <a:avLst/>
          </a:prstGeom>
        </p:spPr>
        <p:txBody>
          <a:bodyPr/>
          <a:lstStyle/>
          <a:p>
            <a:pPr marL="543839" indent="-543839" defTabSz="9144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758" b="1">
                <a:latin typeface="+mn-lt"/>
                <a:ea typeface="+mn-ea"/>
                <a:cs typeface="+mn-cs"/>
                <a:sym typeface="Times New Roman"/>
              </a:defRPr>
            </a:pPr>
            <a:r>
              <a:rPr dirty="0"/>
              <a:t>URL Clustering</a:t>
            </a:r>
          </a:p>
          <a:p>
            <a:pPr marL="543839" indent="-543839" defTabSz="9144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758">
                <a:latin typeface="+mn-lt"/>
                <a:ea typeface="+mn-ea"/>
                <a:cs typeface="+mn-cs"/>
                <a:sym typeface="Times New Roman"/>
              </a:defRPr>
            </a:pPr>
            <a:r>
              <a:rPr dirty="0"/>
              <a:t>Tokenize URLs, extract TF-IDF features, and apply K-means clustering to group URLs into spam/ham categories.</a:t>
            </a:r>
          </a:p>
          <a:p>
            <a:pPr marL="0" indent="0" defTabSz="9144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758">
                <a:latin typeface="+mn-lt"/>
                <a:ea typeface="+mn-ea"/>
                <a:cs typeface="+mn-cs"/>
                <a:sym typeface="Times New Roman"/>
              </a:defRPr>
            </a:pPr>
            <a:endParaRPr dirty="0"/>
          </a:p>
          <a:p>
            <a:pPr defTabSz="9144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758" b="1">
                <a:latin typeface="+mn-lt"/>
                <a:ea typeface="+mn-ea"/>
                <a:cs typeface="+mn-cs"/>
                <a:sym typeface="Times New Roman"/>
              </a:defRPr>
            </a:pPr>
            <a:r>
              <a:rPr lang="en-IN" dirty="0"/>
              <a:t>Finding the association of spam with con textual data of employee’s</a:t>
            </a:r>
            <a:endParaRPr dirty="0"/>
          </a:p>
          <a:p>
            <a:pPr marL="543839" indent="-543839" defTabSz="9144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758">
                <a:latin typeface="+mn-lt"/>
                <a:ea typeface="+mn-ea"/>
                <a:cs typeface="+mn-cs"/>
                <a:sym typeface="Times New Roman"/>
              </a:defRPr>
            </a:pPr>
            <a:r>
              <a:rPr lang="en-IN" dirty="0"/>
              <a:t>We</a:t>
            </a:r>
            <a:r>
              <a:rPr dirty="0"/>
              <a:t> first preprocessed the data by encoding categorical variables and splitting it into training and testing sets. Then, we trained and evaluated five machine learning models - Linear Regression, Decision Tree, Random Forest, SVR, and </a:t>
            </a:r>
            <a:r>
              <a:rPr dirty="0" err="1"/>
              <a:t>XGBoost</a:t>
            </a:r>
            <a:r>
              <a:rPr dirty="0"/>
              <a:t> - using Mean Squared Error as the performance metric. Among these, Decision Tree and Random Forest showed the lowest MSE, indicating their potential for accurate prediction of spam count or average duration per day based on user attributes.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36" name="Preliminary Results"/>
          <p:cNvSpPr txBox="1">
            <a:spLocks noGrp="1"/>
          </p:cNvSpPr>
          <p:nvPr>
            <p:ph type="title"/>
          </p:nvPr>
        </p:nvSpPr>
        <p:spPr>
          <a:xfrm>
            <a:off x="7367666" y="303244"/>
            <a:ext cx="21971001" cy="1689101"/>
          </a:xfrm>
          <a:prstGeom prst="rect">
            <a:avLst/>
          </a:prstGeom>
        </p:spPr>
        <p:txBody>
          <a:bodyPr/>
          <a:lstStyle>
            <a:lvl1pPr defTabSz="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9400" spc="0">
                <a:solidFill>
                  <a:srgbClr val="FFFFFF"/>
                </a:solidFill>
              </a:defRPr>
            </a:lvl1pPr>
          </a:lstStyle>
          <a:p>
            <a:r>
              <a:t>Preliminary Results</a:t>
            </a:r>
          </a:p>
        </p:txBody>
      </p:sp>
      <p:sp>
        <p:nvSpPr>
          <p:cNvPr id="237" name="Initial analysis concentrated on user behaviour and security threat detection.…"/>
          <p:cNvSpPr txBox="1">
            <a:spLocks noGrp="1"/>
          </p:cNvSpPr>
          <p:nvPr>
            <p:ph type="body" idx="1"/>
          </p:nvPr>
        </p:nvSpPr>
        <p:spPr>
          <a:xfrm>
            <a:off x="1585648" y="2533183"/>
            <a:ext cx="21971001" cy="9900440"/>
          </a:xfrm>
          <a:prstGeom prst="rect">
            <a:avLst/>
          </a:prstGeom>
        </p:spPr>
        <p:txBody>
          <a:bodyPr/>
          <a:lstStyle/>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Helvetica"/>
                <a:ea typeface="Helvetica"/>
                <a:cs typeface="Helvetica"/>
                <a:sym typeface="Helvetica"/>
              </a:defRPr>
            </a:pPr>
            <a:endParaRP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r>
              <a:t>Initial analysis concentrated on user behaviour and security threat detection.</a:t>
            </a: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endParaRP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r>
              <a:t>'logon.csv' data was processed to calculate daily work hours for each user.</a:t>
            </a: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endParaRP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r>
              <a:t>Unsupervised learning via K-means clustering was applied to 'http.csv' to categorise URLs as spam or ham.</a:t>
            </a: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endParaRP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r>
              <a:t>A comprehensive table was created, incorporating employee details, average daily work hours, and frequency of attempts to access spam URLs.</a:t>
            </a: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endParaRPr/>
          </a:p>
          <a:p>
            <a:pPr marL="468629" indent="-468629" defTabSz="12700">
              <a:spcBef>
                <a:spcPts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4900">
                <a:latin typeface="+mn-lt"/>
                <a:ea typeface="+mn-ea"/>
                <a:cs typeface="+mn-cs"/>
                <a:sym typeface="Times New Roman"/>
              </a:defRPr>
            </a:pPr>
            <a:r>
              <a:t>These insights serve as the basis for ongoing investigations, offering valuable understanding of user activity and potential security risks.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39" name="Results"/>
          <p:cNvSpPr txBox="1">
            <a:spLocks noGrp="1"/>
          </p:cNvSpPr>
          <p:nvPr>
            <p:ph type="title"/>
          </p:nvPr>
        </p:nvSpPr>
        <p:spPr>
          <a:xfrm>
            <a:off x="8931654" y="633486"/>
            <a:ext cx="21971001" cy="1689101"/>
          </a:xfrm>
          <a:prstGeom prst="rect">
            <a:avLst/>
          </a:prstGeom>
        </p:spPr>
        <p:txBody>
          <a:bodyPr/>
          <a:lstStyle/>
          <a:p>
            <a:r>
              <a:t>Results</a:t>
            </a:r>
          </a:p>
        </p:txBody>
      </p:sp>
      <p:pic>
        <p:nvPicPr>
          <p:cNvPr id="240" name="WhatsApp Image 2024-04-09 at 02.52.49.jpeg" descr="WhatsApp Image 2024-04-09 at 02.52.49.jpeg"/>
          <p:cNvPicPr>
            <a:picLocks/>
          </p:cNvPicPr>
          <p:nvPr/>
        </p:nvPicPr>
        <p:blipFill>
          <a:blip r:embed="rId3"/>
          <a:stretch>
            <a:fillRect/>
          </a:stretch>
        </p:blipFill>
        <p:spPr>
          <a:xfrm>
            <a:off x="3118028" y="3885708"/>
            <a:ext cx="17550156" cy="7945334"/>
          </a:xfrm>
          <a:prstGeom prst="rect">
            <a:avLst/>
          </a:prstGeom>
          <a:effectLst>
            <a:outerShdw blurRad="50800" dist="63500" dir="2700000" rotWithShape="0">
              <a:srgbClr val="000000">
                <a:alpha val="50000"/>
              </a:srgbClr>
            </a:outerShdw>
          </a:effec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42" name="Related Work"/>
          <p:cNvSpPr txBox="1">
            <a:spLocks noGrp="1"/>
          </p:cNvSpPr>
          <p:nvPr>
            <p:ph type="title"/>
          </p:nvPr>
        </p:nvSpPr>
        <p:spPr>
          <a:xfrm>
            <a:off x="6680459" y="443912"/>
            <a:ext cx="21971001" cy="1689101"/>
          </a:xfrm>
          <a:prstGeom prst="rect">
            <a:avLst/>
          </a:prstGeom>
        </p:spPr>
        <p:txBody>
          <a:bodyPr/>
          <a:lstStyle/>
          <a:p>
            <a:r>
              <a:t>Related Work</a:t>
            </a:r>
          </a:p>
        </p:txBody>
      </p:sp>
      <p:sp>
        <p:nvSpPr>
          <p:cNvPr id="243" name="Text"/>
          <p:cNvSpPr txBox="1"/>
          <p:nvPr/>
        </p:nvSpPr>
        <p:spPr>
          <a:xfrm>
            <a:off x="2218443" y="6098854"/>
            <a:ext cx="127001" cy="20396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endParaRPr/>
          </a:p>
        </p:txBody>
      </p:sp>
      <p:sp>
        <p:nvSpPr>
          <p:cNvPr id="244" name="An Investigation of Employees' Intention to Comply with Information Security System—A Mixed Approach Based on Regression.…"/>
          <p:cNvSpPr txBox="1"/>
          <p:nvPr/>
        </p:nvSpPr>
        <p:spPr>
          <a:xfrm>
            <a:off x="922739" y="1197449"/>
            <a:ext cx="24434801" cy="101362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marL="457200" indent="-457200">
              <a:buSzPct val="100000"/>
              <a:buChar char="•"/>
              <a:defRPr sz="4400">
                <a:latin typeface="+mn-lt"/>
                <a:ea typeface="+mn-ea"/>
                <a:cs typeface="+mn-cs"/>
                <a:sym typeface="Times New Roman"/>
              </a:defRPr>
            </a:pPr>
            <a:endParaRPr/>
          </a:p>
          <a:p>
            <a:pPr marL="457200" indent="-457200">
              <a:buSzPct val="100000"/>
              <a:buChar char="•"/>
              <a:defRPr sz="4400">
                <a:latin typeface="+mn-lt"/>
                <a:ea typeface="+mn-ea"/>
                <a:cs typeface="+mn-cs"/>
                <a:sym typeface="Times New Roman"/>
              </a:defRPr>
            </a:pPr>
            <a:endParaRPr/>
          </a:p>
          <a:p>
            <a:pPr marL="571500" indent="-571500">
              <a:buSzPct val="100000"/>
              <a:buChar char="•"/>
              <a:defRPr sz="4400">
                <a:latin typeface="+mn-lt"/>
                <a:ea typeface="+mn-ea"/>
                <a:cs typeface="+mn-cs"/>
                <a:sym typeface="Times New Roman"/>
              </a:defRPr>
            </a:pPr>
            <a:r>
              <a:t>An Investigation of Employees' Intention to Comply with Information Security System—A Mixed Approach Based on Regression.</a:t>
            </a:r>
          </a:p>
          <a:p>
            <a:pPr marL="571500" indent="-571500">
              <a:buSzPct val="100000"/>
              <a:buChar char="•"/>
              <a:defRPr sz="4400">
                <a:latin typeface="+mn-lt"/>
                <a:ea typeface="+mn-ea"/>
                <a:cs typeface="+mn-cs"/>
                <a:sym typeface="Times New Roman"/>
              </a:defRPr>
            </a:pPr>
            <a:r>
              <a:t>https://www.ncbi.nlm.nih.gov/pmc/articles/PMC9737675/</a:t>
            </a:r>
          </a:p>
          <a:p>
            <a:pPr marL="571500" indent="-571500">
              <a:buSzPct val="100000"/>
              <a:buChar char="•"/>
              <a:defRPr sz="4400">
                <a:latin typeface="+mn-lt"/>
                <a:ea typeface="+mn-ea"/>
                <a:cs typeface="+mn-cs"/>
                <a:sym typeface="Times New Roman"/>
              </a:defRPr>
            </a:pPr>
            <a:r>
              <a:t>Evaluating Staff Attitudes, Intentions, and Behaviors Related to Cyber Security in Healthcarehttps://www.ncbi.nlm.nih.gov/pmc/articles/PMC10585427/</a:t>
            </a:r>
          </a:p>
          <a:p>
            <a:pPr marL="571500" indent="-571500">
              <a:buSzPct val="100000"/>
              <a:buChar char="•"/>
              <a:defRPr sz="4400">
                <a:latin typeface="+mn-lt"/>
                <a:ea typeface="+mn-ea"/>
                <a:cs typeface="+mn-cs"/>
                <a:sym typeface="Times New Roman"/>
              </a:defRPr>
            </a:pPr>
            <a:r>
              <a:t>Understanding Employee Security Behavior in Using Information System of Organizations: Evidence from Jakarta Greater Area, Indonesia</a:t>
            </a:r>
          </a:p>
          <a:p>
            <a:pPr marL="571500" indent="-571500">
              <a:buSzPct val="100000"/>
              <a:buChar char="•"/>
              <a:defRPr sz="4400">
                <a:latin typeface="+mn-lt"/>
                <a:ea typeface="+mn-ea"/>
                <a:cs typeface="+mn-cs"/>
                <a:sym typeface="Times New Roman"/>
              </a:defRPr>
            </a:pPr>
            <a:r>
              <a:t>http://www.jatit.org/volumes/Vol100No12/5Vol100No12.pdf</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46" name="Future Plans"/>
          <p:cNvSpPr txBox="1">
            <a:spLocks noGrp="1"/>
          </p:cNvSpPr>
          <p:nvPr>
            <p:ph type="title"/>
          </p:nvPr>
        </p:nvSpPr>
        <p:spPr>
          <a:xfrm>
            <a:off x="7936389" y="445425"/>
            <a:ext cx="21971001" cy="1689101"/>
          </a:xfrm>
          <a:prstGeom prst="rect">
            <a:avLst/>
          </a:prstGeom>
        </p:spPr>
        <p:txBody>
          <a:bodyPr/>
          <a:lstStyle>
            <a:lvl1pPr defTabSz="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9400" b="0" spc="0">
                <a:solidFill>
                  <a:srgbClr val="FFFFFF"/>
                </a:solidFill>
              </a:defRPr>
            </a:lvl1pPr>
          </a:lstStyle>
          <a:p>
            <a:r>
              <a:t>Future Plans</a:t>
            </a:r>
          </a:p>
        </p:txBody>
      </p:sp>
      <p:sp>
        <p:nvSpPr>
          <p:cNvPr id="247" name="Experiment with different features and clustering algorithms for URL analysis (e.g., URL length, domain-specific words, hierarchical clustering, Gaussian Mixture Models).…"/>
          <p:cNvSpPr txBox="1">
            <a:spLocks noGrp="1"/>
          </p:cNvSpPr>
          <p:nvPr>
            <p:ph type="body" idx="1"/>
          </p:nvPr>
        </p:nvSpPr>
        <p:spPr>
          <a:xfrm>
            <a:off x="1206499" y="2729994"/>
            <a:ext cx="21971001" cy="8256012"/>
          </a:xfrm>
          <a:prstGeom prst="rect">
            <a:avLst/>
          </a:prstGeom>
        </p:spPr>
        <p:txBody>
          <a:bodyPr>
            <a:normAutofit lnSpcReduction="10000"/>
          </a:bodyPr>
          <a:lstStyle/>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r>
              <a:rPr dirty="0"/>
              <a:t>Experiment with different features and clustering algorithms for URL analysis (e.g., URL length, domain-specific words, hierarchical clustering, Gaussian Mixture Models).</a:t>
            </a:r>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r>
              <a:rPr dirty="0"/>
              <a:t>Develop more advanced anomaly detection algorithms to handle complex patterns and adapt to evolving threats.</a:t>
            </a:r>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r>
              <a:rPr dirty="0"/>
              <a:t>Incorporate real-time monitoring and analysis capabilities</a:t>
            </a:r>
            <a:r>
              <a:rPr lang="en-IN" dirty="0"/>
              <a:t> as a simulation.</a:t>
            </a: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r>
              <a:rPr dirty="0"/>
              <a:t>Explore the integration of contextual information (user role, device type, time of day) for improved accuracy</a:t>
            </a:r>
            <a:r>
              <a:rPr lang="en-IN" dirty="0"/>
              <a:t>. </a:t>
            </a:r>
            <a:r>
              <a:rPr dirty="0"/>
              <a:t>Investigate deep learning architectures (RNNs, transformers) for anomaly detection.</a:t>
            </a:r>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endParaRPr dirty="0"/>
          </a:p>
          <a:p>
            <a:pPr marL="285749" indent="-285749" defTabSz="914400">
              <a:spcBef>
                <a:spcPts val="0"/>
              </a:spcBef>
              <a:tabLst>
                <a:tab pos="228600" algn="l"/>
                <a:tab pos="457200" algn="l"/>
                <a:tab pos="685800" algn="l"/>
                <a:tab pos="914400" algn="l"/>
                <a:tab pos="1143000" algn="l"/>
                <a:tab pos="1371600" algn="l"/>
                <a:tab pos="1600200" algn="l"/>
                <a:tab pos="1828800" algn="l"/>
                <a:tab pos="2057400" algn="l"/>
                <a:tab pos="2286000" algn="l"/>
                <a:tab pos="2514600" algn="l"/>
                <a:tab pos="2743200" algn="l"/>
              </a:tabLst>
              <a:defRPr sz="4250">
                <a:latin typeface="+mn-lt"/>
                <a:ea typeface="+mn-ea"/>
                <a:cs typeface="+mn-cs"/>
                <a:sym typeface="Times New Roman"/>
              </a:defRPr>
            </a:pPr>
            <a:r>
              <a:rPr dirty="0"/>
              <a:t>Evaluate the system's effectiveness across different industries and domains.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49" name="Team Roles and Responsibilities"/>
          <p:cNvSpPr txBox="1">
            <a:spLocks noGrp="1"/>
          </p:cNvSpPr>
          <p:nvPr>
            <p:ph type="title"/>
          </p:nvPr>
        </p:nvSpPr>
        <p:spPr>
          <a:xfrm>
            <a:off x="2272855" y="469122"/>
            <a:ext cx="21971001" cy="1689101"/>
          </a:xfrm>
          <a:prstGeom prst="rect">
            <a:avLst/>
          </a:prstGeom>
        </p:spPr>
        <p:txBody>
          <a:bodyPr/>
          <a:lstStyle/>
          <a:p>
            <a:r>
              <a:t>Team Roles and Responsibilities</a:t>
            </a:r>
          </a:p>
        </p:txBody>
      </p:sp>
      <p:sp>
        <p:nvSpPr>
          <p:cNvPr id="250" name="Evakattu Muni Eshwar: Worked on spam/ham URL classification using unsupervised learning, data handling, preprocessing, feature engineering, and modeling.…"/>
          <p:cNvSpPr txBox="1">
            <a:spLocks noGrp="1"/>
          </p:cNvSpPr>
          <p:nvPr>
            <p:ph type="body" idx="1"/>
          </p:nvPr>
        </p:nvSpPr>
        <p:spPr>
          <a:xfrm>
            <a:off x="1585648" y="4047371"/>
            <a:ext cx="21971001" cy="8256011"/>
          </a:xfrm>
          <a:prstGeom prst="rect">
            <a:avLst/>
          </a:prstGeom>
        </p:spPr>
        <p:txBody>
          <a:bodyPr/>
          <a:lstStyle/>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5800">
                <a:latin typeface="+mn-lt"/>
                <a:ea typeface="+mn-ea"/>
                <a:cs typeface="+mn-cs"/>
                <a:sym typeface="Times New Roman"/>
              </a:defRPr>
            </a:pPr>
            <a:r>
              <a:rPr b="1"/>
              <a:t>Evakattu Muni Eshwar</a:t>
            </a:r>
            <a:r>
              <a:t>: Worked on spam/ham URL classification using unsupervised learning, data handling, preprocessing, feature engineering, and modeling.</a:t>
            </a:r>
          </a:p>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5800">
                <a:latin typeface="+mn-lt"/>
                <a:ea typeface="+mn-ea"/>
                <a:cs typeface="+mn-cs"/>
                <a:sym typeface="Times New Roman"/>
              </a:defRPr>
            </a:pPr>
            <a:endParaRPr/>
          </a:p>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5800">
                <a:latin typeface="+mn-lt"/>
                <a:ea typeface="+mn-ea"/>
                <a:cs typeface="+mn-cs"/>
                <a:sym typeface="Times New Roman"/>
              </a:defRPr>
            </a:pPr>
            <a:endParaRPr/>
          </a:p>
          <a:p>
            <a:pPr marL="0" indent="0" defTabSz="12700">
              <a:spcBef>
                <a:spcPts val="0"/>
              </a:spcBef>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sz="5800">
                <a:latin typeface="+mn-lt"/>
                <a:ea typeface="+mn-ea"/>
                <a:cs typeface="+mn-cs"/>
                <a:sym typeface="Times New Roman"/>
              </a:defRPr>
            </a:pPr>
            <a:r>
              <a:rPr b="1"/>
              <a:t>Pallavi Suma Kurmala</a:t>
            </a:r>
            <a:r>
              <a:t>: Analysed user working duration per day using logon_info and employee details datasets, data handling, preprocessing, feature engineering, and modeling.</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52" name="Thank You"/>
          <p:cNvSpPr txBox="1">
            <a:spLocks noGrp="1"/>
          </p:cNvSpPr>
          <p:nvPr>
            <p:ph type="body" sz="quarter" idx="1"/>
          </p:nvPr>
        </p:nvSpPr>
        <p:spPr>
          <a:xfrm>
            <a:off x="7644844" y="4408355"/>
            <a:ext cx="13995401" cy="4428668"/>
          </a:xfrm>
          <a:prstGeom prst="rect">
            <a:avLst/>
          </a:prstGeom>
        </p:spPr>
        <p:txBody>
          <a:bodyPr>
            <a:normAutofit fontScale="92500" lnSpcReduction="10000"/>
          </a:bodyPr>
          <a:lstStyle>
            <a:lvl1pPr>
              <a:defRPr sz="12400" spc="-124">
                <a:latin typeface="+mn-lt"/>
                <a:ea typeface="+mn-ea"/>
                <a:cs typeface="+mn-cs"/>
                <a:sym typeface="Times New Roman"/>
              </a:defRPr>
            </a:lvl1pPr>
          </a:lstStyle>
          <a:p>
            <a:r>
              <a:rPr dirty="0"/>
              <a:t>Thank You</a:t>
            </a:r>
            <a:r>
              <a:rPr lang="en-IN" dirty="0"/>
              <a:t>. </a:t>
            </a:r>
          </a:p>
          <a:p>
            <a:endParaRPr lang="en-IN" dirty="0"/>
          </a:p>
          <a:p>
            <a:r>
              <a:rPr lang="en-IN" dirty="0"/>
              <a:t>       😀  </a:t>
            </a:r>
            <a:endParaRPr dirty="0"/>
          </a:p>
        </p:txBody>
      </p:sp>
    </p:spTree>
  </p:cSld>
  <p:clrMapOvr>
    <a:masterClrMapping/>
  </p:clrMapOvr>
  <p:transition spd="med"/>
</p:sld>
</file>

<file path=ppt/theme/theme1.xml><?xml version="1.0" encoding="utf-8"?>
<a:theme xmlns:a="http://schemas.openxmlformats.org/drawingml/2006/main" name="35_DynamicWavesDark">
  <a:themeElements>
    <a:clrScheme name="35_DynamicWavesDark">
      <a:dk1>
        <a:srgbClr val="FF0000"/>
      </a:dk1>
      <a:lt1>
        <a:srgbClr val="FFFFFF"/>
      </a:lt1>
      <a:dk2>
        <a:srgbClr val="53585F"/>
      </a:dk2>
      <a:lt2>
        <a:srgbClr val="D5D5D5"/>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5_DynamicWavesDark">
      <a:majorFont>
        <a:latin typeface="Produkt Extralight"/>
        <a:ea typeface="Produkt Extralight"/>
        <a:cs typeface="Produkt Extralight"/>
      </a:majorFont>
      <a:minorFont>
        <a:latin typeface="Times New Roman"/>
        <a:ea typeface="Times New Roman"/>
        <a:cs typeface="Times New Roman"/>
      </a:minorFont>
    </a:fontScheme>
    <a:fmtScheme name="35_DynamicWaves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chemeClr val="accent1">
                <a:satOff val="5092"/>
                <a:lumOff val="-28652"/>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5_DynamicWavesDark">
  <a:themeElements>
    <a:clrScheme name="35_DynamicWavesDark">
      <a:dk1>
        <a:srgbClr val="000000"/>
      </a:dk1>
      <a:lt1>
        <a:srgbClr val="FFFFFF"/>
      </a:lt1>
      <a:dk2>
        <a:srgbClr val="53585F"/>
      </a:dk2>
      <a:lt2>
        <a:srgbClr val="D5D5D5"/>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5_DynamicWavesDark">
      <a:majorFont>
        <a:latin typeface="Produkt Extralight"/>
        <a:ea typeface="Produkt Extralight"/>
        <a:cs typeface="Produkt Extralight"/>
      </a:majorFont>
      <a:minorFont>
        <a:latin typeface="Times New Roman"/>
        <a:ea typeface="Times New Roman"/>
        <a:cs typeface="Times New Roman"/>
      </a:minorFont>
    </a:fontScheme>
    <a:fmtScheme name="35_DynamicWaves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chemeClr val="accent1">
                <a:satOff val="5092"/>
                <a:lumOff val="-28652"/>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35_DynamicWavesDark">
    <a:dk1>
      <a:srgbClr val="FF0000"/>
    </a:dk1>
    <a:lt1>
      <a:srgbClr val="FFFFFF"/>
    </a:lt1>
    <a:dk2>
      <a:srgbClr val="53585F"/>
    </a:dk2>
    <a:lt2>
      <a:srgbClr val="D5D5D5"/>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themeOverride>
</file>

<file path=ppt/theme/themeOverride2.xml><?xml version="1.0" encoding="utf-8"?>
<a:themeOverride xmlns:a="http://schemas.openxmlformats.org/drawingml/2006/main">
  <a:clrScheme name="35_DynamicWavesDark">
    <a:dk1>
      <a:srgbClr val="FF0000"/>
    </a:dk1>
    <a:lt1>
      <a:srgbClr val="FFFFFF"/>
    </a:lt1>
    <a:dk2>
      <a:srgbClr val="53585F"/>
    </a:dk2>
    <a:lt2>
      <a:srgbClr val="D5D5D5"/>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1</TotalTime>
  <Words>946</Words>
  <Application>Microsoft Office PowerPoint</Application>
  <PresentationFormat>Custom</PresentationFormat>
  <Paragraphs>85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Graphik</vt:lpstr>
      <vt:lpstr>Graphik Light</vt:lpstr>
      <vt:lpstr>Helvetica Neue</vt:lpstr>
      <vt:lpstr>Produkt Light</vt:lpstr>
      <vt:lpstr>Times New Roman</vt:lpstr>
      <vt:lpstr>35_DynamicWavesDark</vt:lpstr>
      <vt:lpstr>Secure Sense</vt:lpstr>
      <vt:lpstr>Introduction</vt:lpstr>
      <vt:lpstr>Problem Definition </vt:lpstr>
      <vt:lpstr>DataSets </vt:lpstr>
      <vt:lpstr>DataSets</vt:lpstr>
      <vt:lpstr>DataSets</vt:lpstr>
      <vt:lpstr>Data Analysis</vt:lpstr>
      <vt:lpstr>Data Analysis</vt:lpstr>
      <vt:lpstr>Flow Chart</vt:lpstr>
      <vt:lpstr>Methodology </vt:lpstr>
      <vt:lpstr>Preliminary Results</vt:lpstr>
      <vt:lpstr>Results</vt:lpstr>
      <vt:lpstr>Related Work</vt:lpstr>
      <vt:lpstr>Future Plans</vt:lpstr>
      <vt:lpstr>Team Roles and Responsibilities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Sense</dc:title>
  <cp:lastModifiedBy>muni eshwar</cp:lastModifiedBy>
  <cp:revision>2</cp:revision>
  <dcterms:modified xsi:type="dcterms:W3CDTF">2024-04-09T18:10:38Z</dcterms:modified>
</cp:coreProperties>
</file>